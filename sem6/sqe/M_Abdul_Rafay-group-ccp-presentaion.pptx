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8" d="100"/>
          <a:sy n="98" d="100"/>
        </p:scale>
        <p:origin x="8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1238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011680" y="4389120"/>
            <a:ext cx="4114800" cy="41148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QUALITY ASSURANCE PLAN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Appointment Booking System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in accordance with the IEEE 730:2014 Standard for Software Quality Assurance Processes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54480" y="40050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Quality Engineering    </a:t>
            </a: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Project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554480" y="431596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Abdul Rafay (FL23791)  •  Nazish Khan (FL23843)  •  M Ali Atif (FL23824)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554480" y="46268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Sumaira Nazir      </a:t>
            </a: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BS(SE) AFT      </a:t>
            </a: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May 2026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University of Modern Languages  |  Faculty of Engineering and Computing  |  Department of Software Engineering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627632"/>
            <a:ext cx="822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965960" y="16002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Project Overview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2679192"/>
            <a:ext cx="822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1965960" y="26517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 &amp; Stakeholders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361188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31520" y="3730752"/>
            <a:ext cx="822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1965960" y="37033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 Functional &amp; Non-Functional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48640" y="466344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731520" y="4782312"/>
            <a:ext cx="822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16"/>
          <p:cNvSpPr/>
          <p:nvPr/>
        </p:nvSpPr>
        <p:spPr>
          <a:xfrm>
            <a:off x="1965960" y="47548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Management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6126480" y="150876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6309360" y="1627632"/>
            <a:ext cx="822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7" name="Text 20"/>
          <p:cNvSpPr/>
          <p:nvPr/>
        </p:nvSpPr>
        <p:spPr>
          <a:xfrm>
            <a:off x="7543800" y="16002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Activities, Reviews &amp; V&amp;V</a:t>
            </a:r>
            <a:endParaRPr lang="en-US" sz="1350" dirty="0"/>
          </a:p>
        </p:txBody>
      </p:sp>
      <p:sp>
        <p:nvSpPr>
          <p:cNvPr id="28" name="Shape 21"/>
          <p:cNvSpPr/>
          <p:nvPr/>
        </p:nvSpPr>
        <p:spPr>
          <a:xfrm>
            <a:off x="6126480" y="256032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/>
          <p:nvPr/>
        </p:nvSpPr>
        <p:spPr>
          <a:xfrm>
            <a:off x="6309360" y="2679192"/>
            <a:ext cx="822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32" name="Text 24"/>
          <p:cNvSpPr/>
          <p:nvPr/>
        </p:nvSpPr>
        <p:spPr>
          <a:xfrm>
            <a:off x="7543800" y="26517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1350" dirty="0"/>
          </a:p>
        </p:txBody>
      </p:sp>
      <p:sp>
        <p:nvSpPr>
          <p:cNvPr id="33" name="Shape 25"/>
          <p:cNvSpPr/>
          <p:nvPr/>
        </p:nvSpPr>
        <p:spPr>
          <a:xfrm>
            <a:off x="6126480" y="361188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26"/>
          <p:cNvSpPr/>
          <p:nvPr/>
        </p:nvSpPr>
        <p:spPr>
          <a:xfrm>
            <a:off x="6309360" y="3730752"/>
            <a:ext cx="822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37" name="Text 28"/>
          <p:cNvSpPr/>
          <p:nvPr/>
        </p:nvSpPr>
        <p:spPr>
          <a:xfrm>
            <a:off x="7543800" y="37033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Management</a:t>
            </a:r>
            <a:endParaRPr lang="en-US" sz="1350" dirty="0"/>
          </a:p>
        </p:txBody>
      </p:sp>
      <p:sp>
        <p:nvSpPr>
          <p:cNvPr id="38" name="Shape 29"/>
          <p:cNvSpPr/>
          <p:nvPr/>
        </p:nvSpPr>
        <p:spPr>
          <a:xfrm>
            <a:off x="6126480" y="466344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889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0"/>
          <p:cNvSpPr/>
          <p:nvPr/>
        </p:nvSpPr>
        <p:spPr>
          <a:xfrm>
            <a:off x="6309360" y="4782312"/>
            <a:ext cx="822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42" name="Text 32"/>
          <p:cNvSpPr/>
          <p:nvPr/>
        </p:nvSpPr>
        <p:spPr>
          <a:xfrm>
            <a:off x="7543800" y="47548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Configuration, Risk &amp; Metrics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Quality Assurance Plan  |  Doctor Appointment Booking System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Introduction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and scope of this Software Quality Assurance Plan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508760" y="17556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47548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SQAP describes how the development team will ensure the Doctor Appointment Booking System is built correctly and meets required quality standards before release. It covers all quality-related activities: requirement reviews, design reviews, testing, and defect management — prepared in accordance with IEEE 730:2014.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4630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223760" y="17556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83680" y="24231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the complete web-based application supporting three user types — patients, doctors, and administrators — across all development phases from requirement gathering through final deployment.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583680" y="3941064"/>
            <a:ext cx="128016" cy="128016"/>
          </a:xfrm>
          <a:prstGeom prst="ellipse">
            <a:avLst/>
          </a:prstGeom>
          <a:solidFill>
            <a:srgbClr val="3FD6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858000" y="38130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Module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583680" y="4562856"/>
            <a:ext cx="128016" cy="128016"/>
          </a:xfrm>
          <a:prstGeom prst="ellipse">
            <a:avLst/>
          </a:prstGeom>
          <a:solidFill>
            <a:srgbClr val="3FD6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858000" y="4434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Module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583680" y="5184648"/>
            <a:ext cx="128016" cy="128016"/>
          </a:xfrm>
          <a:prstGeom prst="ellipse">
            <a:avLst/>
          </a:prstGeom>
          <a:solidFill>
            <a:srgbClr val="3FD6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858000" y="50566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Quality Assurance Plan  |  Doctor Appointment Booking System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Appointment Booking System replaces the traditional, in-person scheduling process with a fast, convenient online alternative — allowing patients to search for available doctors and book appointments from home.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3191256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patients a simple online way to book appointments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370332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manual workload of appointment management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548640" y="4215384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doctors a convenient way to manage daily schedules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548640" y="472744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organized digital records of all appointments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7635240" y="1463040"/>
            <a:ext cx="4023360" cy="44805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8"/>
          <p:cNvSpPr/>
          <p:nvPr/>
        </p:nvSpPr>
        <p:spPr>
          <a:xfrm>
            <a:off x="795528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8595360" y="21305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8595360" y="23865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8595360" y="30266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8595360" y="32826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Express.js</a:t>
            </a:r>
            <a:endParaRPr lang="en-US" sz="1350" dirty="0"/>
          </a:p>
        </p:txBody>
      </p:sp>
      <p:sp>
        <p:nvSpPr>
          <p:cNvPr id="25" name="Text 16"/>
          <p:cNvSpPr/>
          <p:nvPr/>
        </p:nvSpPr>
        <p:spPr>
          <a:xfrm>
            <a:off x="8595360" y="39227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8595360" y="41788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50" dirty="0"/>
          </a:p>
        </p:txBody>
      </p:sp>
      <p:sp>
        <p:nvSpPr>
          <p:cNvPr id="29" name="Text 19"/>
          <p:cNvSpPr/>
          <p:nvPr/>
        </p:nvSpPr>
        <p:spPr>
          <a:xfrm>
            <a:off x="8595360" y="48188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30" name="Text 20"/>
          <p:cNvSpPr/>
          <p:nvPr/>
        </p:nvSpPr>
        <p:spPr>
          <a:xfrm>
            <a:off x="8595360" y="50749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350" dirty="0"/>
          </a:p>
        </p:txBody>
      </p:sp>
      <p:sp>
        <p:nvSpPr>
          <p:cNvPr id="31" name="Text 2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Quality Assurance Plan  |  Doctor Appointment Booking System</a:t>
            </a:r>
            <a:endParaRPr lang="en-US" sz="900" dirty="0"/>
          </a:p>
        </p:txBody>
      </p:sp>
      <p:sp>
        <p:nvSpPr>
          <p:cNvPr id="32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Modules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user-facing modules, each with a distinct role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61188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463040" y="150876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Module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22960" y="2834640"/>
            <a:ext cx="100584" cy="100584"/>
          </a:xfrm>
          <a:prstGeom prst="ellipse">
            <a:avLst/>
          </a:prstGeom>
          <a:solidFill>
            <a:srgbClr val="0E8E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51560" y="26974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log in to the system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22960" y="3611880"/>
            <a:ext cx="100584" cy="100584"/>
          </a:xfrm>
          <a:prstGeom prst="ellipse">
            <a:avLst/>
          </a:prstGeom>
          <a:solidFill>
            <a:srgbClr val="0E8E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51560" y="34747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doctors by name or specialization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2960" y="4389120"/>
            <a:ext cx="100584" cy="100584"/>
          </a:xfrm>
          <a:prstGeom prst="ellipse">
            <a:avLst/>
          </a:prstGeom>
          <a:solidFill>
            <a:srgbClr val="0E8E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51560" y="42519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an appointment with a doctor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2960" y="5166360"/>
            <a:ext cx="100584" cy="100584"/>
          </a:xfrm>
          <a:prstGeom prst="ellipse">
            <a:avLst/>
          </a:prstGeom>
          <a:solidFill>
            <a:srgbClr val="0E8E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51560" y="50292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current appointment status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416552" y="150876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416552" y="15087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416552" y="2011680"/>
            <a:ext cx="361188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330952" y="150876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Module</a:t>
            </a:r>
            <a:endParaRPr lang="en-US" sz="1650" dirty="0"/>
          </a:p>
        </p:txBody>
      </p:sp>
      <p:sp>
        <p:nvSpPr>
          <p:cNvPr id="24" name="Shape 20"/>
          <p:cNvSpPr/>
          <p:nvPr/>
        </p:nvSpPr>
        <p:spPr>
          <a:xfrm>
            <a:off x="4690872" y="2834640"/>
            <a:ext cx="100584" cy="100584"/>
          </a:xfrm>
          <a:prstGeom prst="ellipse">
            <a:avLst/>
          </a:prstGeom>
          <a:solidFill>
            <a:srgbClr val="0E8E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4919472" y="26974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to the system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690872" y="3611880"/>
            <a:ext cx="100584" cy="100584"/>
          </a:xfrm>
          <a:prstGeom prst="ellipse">
            <a:avLst/>
          </a:prstGeom>
          <a:solidFill>
            <a:srgbClr val="0E8E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919472" y="34747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incoming appointment requests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4690872" y="4389120"/>
            <a:ext cx="100584" cy="100584"/>
          </a:xfrm>
          <a:prstGeom prst="ellipse">
            <a:avLst/>
          </a:prstGeom>
          <a:solidFill>
            <a:srgbClr val="0E8E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4919472" y="42519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requests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4690872" y="5166360"/>
            <a:ext cx="100584" cy="100584"/>
          </a:xfrm>
          <a:prstGeom prst="ellipse">
            <a:avLst/>
          </a:prstGeom>
          <a:solidFill>
            <a:srgbClr val="0E8E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4919472" y="50292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personal schedule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8284464" y="150876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8284464" y="150876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8284464" y="2011680"/>
            <a:ext cx="361188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9198864" y="150876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Module</a:t>
            </a:r>
            <a:endParaRPr lang="en-US" sz="1650" dirty="0"/>
          </a:p>
        </p:txBody>
      </p:sp>
      <p:sp>
        <p:nvSpPr>
          <p:cNvPr id="38" name="Shape 33"/>
          <p:cNvSpPr/>
          <p:nvPr/>
        </p:nvSpPr>
        <p:spPr>
          <a:xfrm>
            <a:off x="8558784" y="2834640"/>
            <a:ext cx="100584" cy="100584"/>
          </a:xfrm>
          <a:prstGeom prst="ellipse">
            <a:avLst/>
          </a:prstGeom>
          <a:solidFill>
            <a:srgbClr val="0E8E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8787384" y="26974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update, or remove doctor profiles</a:t>
            </a:r>
            <a:endParaRPr lang="en-US" sz="1150" dirty="0"/>
          </a:p>
        </p:txBody>
      </p:sp>
      <p:sp>
        <p:nvSpPr>
          <p:cNvPr id="40" name="Shape 35"/>
          <p:cNvSpPr/>
          <p:nvPr/>
        </p:nvSpPr>
        <p:spPr>
          <a:xfrm>
            <a:off x="8558784" y="3611880"/>
            <a:ext cx="100584" cy="100584"/>
          </a:xfrm>
          <a:prstGeom prst="ellipse">
            <a:avLst/>
          </a:prstGeom>
          <a:solidFill>
            <a:srgbClr val="0E8E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8787384" y="34747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patient accounts</a:t>
            </a:r>
            <a:endParaRPr lang="en-US" sz="1150" dirty="0"/>
          </a:p>
        </p:txBody>
      </p:sp>
      <p:sp>
        <p:nvSpPr>
          <p:cNvPr id="42" name="Shape 37"/>
          <p:cNvSpPr/>
          <p:nvPr/>
        </p:nvSpPr>
        <p:spPr>
          <a:xfrm>
            <a:off x="8558784" y="4389120"/>
            <a:ext cx="100584" cy="100584"/>
          </a:xfrm>
          <a:prstGeom prst="ellipse">
            <a:avLst/>
          </a:prstGeom>
          <a:solidFill>
            <a:srgbClr val="0E8E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8787384" y="42519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all appointments</a:t>
            </a:r>
            <a:endParaRPr lang="en-US" sz="1150" dirty="0"/>
          </a:p>
        </p:txBody>
      </p:sp>
      <p:sp>
        <p:nvSpPr>
          <p:cNvPr id="44" name="Shape 39"/>
          <p:cNvSpPr/>
          <p:nvPr/>
        </p:nvSpPr>
        <p:spPr>
          <a:xfrm>
            <a:off x="8558784" y="5166360"/>
            <a:ext cx="100584" cy="100584"/>
          </a:xfrm>
          <a:prstGeom prst="ellipse">
            <a:avLst/>
          </a:prstGeom>
          <a:solidFill>
            <a:srgbClr val="0E8E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/>
          <p:nvPr/>
        </p:nvSpPr>
        <p:spPr>
          <a:xfrm>
            <a:off x="8787384" y="50292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overall system records</a:t>
            </a:r>
            <a:endParaRPr lang="en-US" sz="1150" dirty="0"/>
          </a:p>
        </p:txBody>
      </p:sp>
      <p:sp>
        <p:nvSpPr>
          <p:cNvPr id="46" name="Text 4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Quality Assurance Plan  |  Doctor Appointment Booking System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Stakeholders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85800" y="3246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37033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appointments and check appointment status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410712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3547872" y="3246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593592" y="37033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appointments and personal schedules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72784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6409944" y="3246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455664" y="37033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 and monitor system activity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9134856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9272016" y="3246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Team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317736" y="37033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maintain the system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Quality Assurance Plan  |  Doctor Appointment Booking System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 Functional Requirements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must do — written in standard “shall” format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886968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714500"/>
            <a:ext cx="777240" cy="475488"/>
          </a:xfrm>
          <a:prstGeom prst="roundRect">
            <a:avLst>
              <a:gd name="adj" fmla="val 11538"/>
            </a:avLst>
          </a:prstGeom>
          <a:solidFill>
            <a:srgbClr val="E3F3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71450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8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FR-01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160020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645920" y="191109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account with name, email, and password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5440680" cy="886968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13232" y="2766060"/>
            <a:ext cx="777240" cy="475488"/>
          </a:xfrm>
          <a:prstGeom prst="roundRect">
            <a:avLst>
              <a:gd name="adj" fmla="val 11538"/>
            </a:avLst>
          </a:prstGeom>
          <a:solidFill>
            <a:srgbClr val="E3F3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276606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8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FR-02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265176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645920" y="296265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credentials before granting access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440680" cy="886968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3817620"/>
            <a:ext cx="777240" cy="475488"/>
          </a:xfrm>
          <a:prstGeom prst="roundRect">
            <a:avLst>
              <a:gd name="adj" fmla="val 11538"/>
            </a:avLst>
          </a:prstGeom>
          <a:solidFill>
            <a:srgbClr val="E3F3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381762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8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FR-03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370332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Search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645920" y="401421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doctors by name or specialization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5440680" cy="886968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3232" y="4869180"/>
            <a:ext cx="777240" cy="475488"/>
          </a:xfrm>
          <a:prstGeom prst="roundRect">
            <a:avLst>
              <a:gd name="adj" fmla="val 11538"/>
            </a:avLst>
          </a:prstGeom>
          <a:solidFill>
            <a:srgbClr val="E3F3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" y="486918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8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FR-04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45920" y="475488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645920" y="506577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doctor, choose time slot, confirm booking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1508760"/>
            <a:ext cx="5440680" cy="886968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73952" y="1714500"/>
            <a:ext cx="777240" cy="475488"/>
          </a:xfrm>
          <a:prstGeom prst="roundRect">
            <a:avLst>
              <a:gd name="adj" fmla="val 11538"/>
            </a:avLst>
          </a:prstGeom>
          <a:solidFill>
            <a:srgbClr val="E3F3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73952" y="171450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8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FR-05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6640" y="160020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Status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406640" y="191109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pending, approved, or rejected status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09360" y="2560320"/>
            <a:ext cx="5440680" cy="886968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73952" y="2766060"/>
            <a:ext cx="777240" cy="475488"/>
          </a:xfrm>
          <a:prstGeom prst="roundRect">
            <a:avLst>
              <a:gd name="adj" fmla="val 11538"/>
            </a:avLst>
          </a:prstGeom>
          <a:solidFill>
            <a:srgbClr val="E3F3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73952" y="276606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8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FR-06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06640" y="265176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Approval Flow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406640" y="296265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review and approve or reject requests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9360" y="3611880"/>
            <a:ext cx="5440680" cy="886968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73952" y="3817620"/>
            <a:ext cx="777240" cy="475488"/>
          </a:xfrm>
          <a:prstGeom prst="roundRect">
            <a:avLst>
              <a:gd name="adj" fmla="val 11538"/>
            </a:avLst>
          </a:prstGeom>
          <a:solidFill>
            <a:srgbClr val="E3F3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73952" y="381762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8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FR-07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406640" y="370332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Management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406640" y="401421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adds, updates, or removes doctor profiles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09360" y="4663440"/>
            <a:ext cx="5440680" cy="886968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473952" y="4869180"/>
            <a:ext cx="777240" cy="475488"/>
          </a:xfrm>
          <a:prstGeom prst="roundRect">
            <a:avLst>
              <a:gd name="adj" fmla="val 11538"/>
            </a:avLst>
          </a:prstGeom>
          <a:solidFill>
            <a:srgbClr val="E3F3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73952" y="486918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8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FR-08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406640" y="475488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406640" y="506577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views and manages patient accounts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Quality Assurance Plan  |  Doctor Appointment Booking System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 Non-Functional Requirements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quality standards the system must meet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762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325880" y="1691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3s response time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9808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95% of interactions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29000" y="150876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762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206240" y="1691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630168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99%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630168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uptime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309360" y="150876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762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7086600" y="1691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510528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Encrypted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510528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passwords, 24h session expiry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9189720" y="150876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762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9966960" y="1691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9390888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guidance needed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9390888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new users to book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48640" y="352044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762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1325880" y="3703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749808" y="4297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/ 7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749808" y="4800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2h planned maintenance / month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3429000" y="352044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762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29"/>
          <p:cNvSpPr/>
          <p:nvPr/>
        </p:nvSpPr>
        <p:spPr>
          <a:xfrm>
            <a:off x="4206240" y="3703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3630168" y="4297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500+</a:t>
            </a:r>
            <a:endParaRPr lang="en-US" sz="1800" dirty="0"/>
          </a:p>
        </p:txBody>
      </p:sp>
      <p:sp>
        <p:nvSpPr>
          <p:cNvPr id="39" name="Text 31"/>
          <p:cNvSpPr/>
          <p:nvPr/>
        </p:nvSpPr>
        <p:spPr>
          <a:xfrm>
            <a:off x="3630168" y="4800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users, no degradation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6309360" y="352044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762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34"/>
          <p:cNvSpPr/>
          <p:nvPr/>
        </p:nvSpPr>
        <p:spPr>
          <a:xfrm>
            <a:off x="7086600" y="3703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250" dirty="0"/>
          </a:p>
        </p:txBody>
      </p:sp>
      <p:sp>
        <p:nvSpPr>
          <p:cNvPr id="44" name="Text 35"/>
          <p:cNvSpPr/>
          <p:nvPr/>
        </p:nvSpPr>
        <p:spPr>
          <a:xfrm>
            <a:off x="6510528" y="4297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48h</a:t>
            </a:r>
            <a:endParaRPr lang="en-US" sz="1800" dirty="0"/>
          </a:p>
        </p:txBody>
      </p:sp>
      <p:sp>
        <p:nvSpPr>
          <p:cNvPr id="45" name="Text 36"/>
          <p:cNvSpPr/>
          <p:nvPr/>
        </p:nvSpPr>
        <p:spPr>
          <a:xfrm>
            <a:off x="6510528" y="4800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resolve a critical bug</a:t>
            </a:r>
            <a:endParaRPr lang="en-US" sz="1000" dirty="0"/>
          </a:p>
        </p:txBody>
      </p:sp>
      <p:sp>
        <p:nvSpPr>
          <p:cNvPr id="46" name="Text 3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Quality Assurance Plan  |  Doctor Appointment Booking System</a:t>
            </a:r>
            <a:endParaRPr lang="en-US" sz="900" dirty="0"/>
          </a:p>
        </p:txBody>
      </p:sp>
      <p:sp>
        <p:nvSpPr>
          <p:cNvPr id="47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Quality Assurance Management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the IEEE 730:2014 standard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Objectives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874520"/>
            <a:ext cx="5833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of identified defects resolved before final release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8640" y="2441448"/>
            <a:ext cx="5833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cover at least 85% of functional requirements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548640" y="3008376"/>
            <a:ext cx="5833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of executed test cases pass during system testing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548640" y="3575304"/>
            <a:ext cx="5833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UAT participants rate the system satisfactory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548640" y="4142232"/>
            <a:ext cx="5833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critical security vulnerabilities at final release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49224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&amp; Responsibilities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920240"/>
          <a:ext cx="5120640" cy="31089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Responsibilities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340"/>
                          </a:solidFill>
                        </a:rPr>
                        <a:t>Project Manager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</a:rPr>
                        <a:t>Plan activities, monitor progress, ensure SQAP is followed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340"/>
                          </a:solidFill>
                        </a:rPr>
                        <a:t>Development Team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</a:rPr>
                        <a:t>Write code, implement requirements, fix defects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340"/>
                          </a:solidFill>
                        </a:rPr>
                        <a:t>QA Team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</a:rPr>
                        <a:t>Conduct reviews and audits, verify compliance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340"/>
                          </a:solidFill>
                        </a:rPr>
                        <a:t>Testing Team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8C"/>
                          </a:solidFill>
                        </a:rPr>
                        <a:t>Write test cases, execute tests, track defects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 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Quality Assurance Plan  |  Doctor Appointment Booking System</a:t>
            </a:r>
            <a:endParaRPr lang="en-US" sz="900" dirty="0"/>
          </a:p>
        </p:txBody>
      </p:sp>
      <p:sp>
        <p:nvSpPr>
          <p:cNvPr id="18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QA Activities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 verified at every stage of the development lifecycle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65960" y="2263140"/>
            <a:ext cx="19050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156460" y="1828800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56460" y="18288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73780" y="2263140"/>
            <a:ext cx="19050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764280" y="1828800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64280" y="18288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81600" y="2263140"/>
            <a:ext cx="19050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372100" y="1828800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72100" y="18288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89420" y="2263140"/>
            <a:ext cx="19050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79920" y="1828800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0E8E82"/>
          </a:solidFill>
          <a:ln w="12700">
            <a:solidFill>
              <a:srgbClr val="0E8E82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79920" y="18288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97240" y="2263140"/>
            <a:ext cx="19050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587740" y="1828800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87740" y="18288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05060" y="2263140"/>
            <a:ext cx="19050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195560" y="1828800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195560" y="182880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88580" y="1325880"/>
            <a:ext cx="0" cy="502920"/>
          </a:xfrm>
          <a:prstGeom prst="line">
            <a:avLst/>
          </a:prstGeom>
          <a:noFill/>
          <a:ln w="15875">
            <a:solidFill>
              <a:srgbClr val="B45309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91200" y="914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found → returns to Development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2918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762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31520" y="40050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Reviews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31520" y="43159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completeness, clarity, and freedom from contradiction before development begins.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429000" y="32918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762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3611880" y="40050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Reviews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3611880" y="43159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reviewed before coding to catch flaws while still inexpensive to fix.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309360" y="32918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762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6492240" y="40050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Reviews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6492240" y="43159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of code; catches over 60% of defects before formal testing begins.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9189720" y="329184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76200" dist="25400" dir="5400000" algn="bl" rotWithShape="0">
              <a:srgbClr val="1E2761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38"/>
          <p:cNvSpPr/>
          <p:nvPr/>
        </p:nvSpPr>
        <p:spPr>
          <a:xfrm>
            <a:off x="9372600" y="40050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Audits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9372600" y="43159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integration, system, and UAT testing, followed by an end-of-phase quality audit.</a:t>
            </a:r>
            <a:endParaRPr lang="en-US" sz="950" dirty="0"/>
          </a:p>
        </p:txBody>
      </p:sp>
      <p:sp>
        <p:nvSpPr>
          <p:cNvPr id="46" name="Text 4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Quality Assurance Plan  |  Doctor Appointment Booking System</a:t>
            </a:r>
            <a:endParaRPr lang="en-US" sz="900" dirty="0"/>
          </a:p>
        </p:txBody>
      </p:sp>
      <p:sp>
        <p:nvSpPr>
          <p:cNvPr id="47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Verification &amp; Validation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questions asked throughout development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5400000" algn="bl" rotWithShape="0">
              <a:srgbClr val="1E2761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600200" y="18288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5603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“Are we building the product right?”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14400" y="3346704"/>
            <a:ext cx="91440" cy="91440"/>
          </a:xfrm>
          <a:prstGeom prst="ellipse">
            <a:avLst/>
          </a:prstGeom>
          <a:solidFill>
            <a:srgbClr val="3FD6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43000" y="321868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requirement documents for completeness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14400" y="3913632"/>
            <a:ext cx="91440" cy="91440"/>
          </a:xfrm>
          <a:prstGeom prst="ellipse">
            <a:avLst/>
          </a:prstGeom>
          <a:solidFill>
            <a:srgbClr val="3FD6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143000" y="378561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design documents before implementation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14400" y="4480560"/>
            <a:ext cx="91440" cy="91440"/>
          </a:xfrm>
          <a:prstGeom prst="ellipse">
            <a:avLst/>
          </a:prstGeom>
          <a:solidFill>
            <a:srgbClr val="3FD6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143000" y="435254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Inspecting source code against coding standards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14400" y="5047488"/>
            <a:ext cx="91440" cy="91440"/>
          </a:xfrm>
          <a:prstGeom prst="ellipse">
            <a:avLst/>
          </a:prstGeom>
          <a:solidFill>
            <a:srgbClr val="3FD6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143000" y="49194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test plans before execution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09360" y="150876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101600" dist="25400" dir="5400000" algn="bl" rotWithShape="0">
              <a:srgbClr val="1E2761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360920" y="18288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6629400" y="25603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“Are we building the right product?”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675120" y="3346704"/>
            <a:ext cx="91440" cy="91440"/>
          </a:xfrm>
          <a:prstGeom prst="ellipse">
            <a:avLst/>
          </a:prstGeom>
          <a:solidFill>
            <a:srgbClr val="0E8E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903720" y="321868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 of all system features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675120" y="3913632"/>
            <a:ext cx="91440" cy="91440"/>
          </a:xfrm>
          <a:prstGeom prst="ellipse">
            <a:avLst/>
          </a:prstGeom>
          <a:solidFill>
            <a:srgbClr val="0E8E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6903720" y="378561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testing of the complete application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675120" y="4480560"/>
            <a:ext cx="91440" cy="91440"/>
          </a:xfrm>
          <a:prstGeom prst="ellipse">
            <a:avLst/>
          </a:prstGeom>
          <a:solidFill>
            <a:srgbClr val="0E8E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6903720" y="435254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 with real users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Quality Assurance Plan  |  Doctor Appointment Booking System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Software Testing Strategy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progresses from individual components to the complete system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is verified in isolation to confirm it works correctly on its own.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64408" y="2720340"/>
            <a:ext cx="146304" cy="0"/>
          </a:xfrm>
          <a:prstGeom prst="line">
            <a:avLst/>
          </a:prstGeom>
          <a:noFill/>
          <a:ln w="19050">
            <a:solidFill>
              <a:srgbClr val="0E8E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29000" y="155448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11880" y="1691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11880" y="23317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2926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that connected modules interact correctly, e.g. patient booking reaching the doctor.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44768" y="2720340"/>
            <a:ext cx="146304" cy="0"/>
          </a:xfrm>
          <a:prstGeom prst="line">
            <a:avLst/>
          </a:prstGeom>
          <a:noFill/>
          <a:ln w="19050">
            <a:solidFill>
              <a:srgbClr val="0E8E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92240" y="1691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92240" y="23317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2926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complete application against functional and non-functional requirements.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25128" y="2720340"/>
            <a:ext cx="146304" cy="0"/>
          </a:xfrm>
          <a:prstGeom prst="line">
            <a:avLst/>
          </a:prstGeom>
          <a:noFill/>
          <a:ln w="19050">
            <a:solidFill>
              <a:srgbClr val="0E8E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89720" y="155448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372600" y="1691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372600" y="23317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72600" y="2926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users perform tasks; the system passes if 85%+ rate it satisfactory.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Unit Test Cases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11064240" cy="1536192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0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0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Expected Output</a:t>
                      </a:r>
                      <a:endParaRPr lang="en-US" sz="10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340"/>
                          </a:solidFill>
                        </a:rPr>
                        <a:t>UT-01</a:t>
                      </a:r>
                      <a:endParaRPr lang="en-US" sz="10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</a:rPr>
                        <a:t>Login</a:t>
                      </a:r>
                      <a:endParaRPr lang="en-US" sz="10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</a:rPr>
                        <a:t>Valid login attempt</a:t>
                      </a:r>
                      <a:endParaRPr lang="en-US" sz="10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</a:rPr>
                        <a:t>User logged in, taken to dashboard</a:t>
                      </a:r>
                      <a:endParaRPr lang="en-US" sz="10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340"/>
                          </a:solidFill>
                        </a:rPr>
                        <a:t>UT-03</a:t>
                      </a:r>
                      <a:endParaRPr lang="en-US" sz="10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</a:rPr>
                        <a:t>Registration</a:t>
                      </a:r>
                      <a:endParaRPr lang="en-US" sz="10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</a:rPr>
                        <a:t>New user registration</a:t>
                      </a:r>
                      <a:endParaRPr lang="en-US" sz="10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</a:rPr>
                        <a:t>Account created and saved in DB</a:t>
                      </a:r>
                      <a:endParaRPr lang="en-US" sz="10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340"/>
                          </a:solidFill>
                        </a:rPr>
                        <a:t>UT-04</a:t>
                      </a:r>
                      <a:endParaRPr lang="en-US" sz="10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</a:rPr>
                        <a:t>Appointment</a:t>
                      </a:r>
                      <a:endParaRPr lang="en-US" sz="10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</a:rPr>
                        <a:t>Book appointment</a:t>
                      </a:r>
                      <a:endParaRPr lang="en-US" sz="10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B8C"/>
                          </a:solidFill>
                        </a:rPr>
                        <a:t>Appointment saved in the database</a:t>
                      </a:r>
                      <a:endParaRPr lang="en-US" sz="10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Quality Assurance Plan  |  Doctor Appointment Booking System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Defect Management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defect is any problem that causes the system to behave incorrectly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6002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48840" y="1988820"/>
            <a:ext cx="292608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441448" y="1600200"/>
            <a:ext cx="16002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41448" y="16002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41648" y="1988820"/>
            <a:ext cx="292608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34256" y="1600200"/>
            <a:ext cx="16002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34256" y="16002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34456" y="1988820"/>
            <a:ext cx="292608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27064" y="1600200"/>
            <a:ext cx="16002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27064" y="16002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27264" y="1988820"/>
            <a:ext cx="292608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19872" y="1600200"/>
            <a:ext cx="16002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19872" y="16002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720072" y="1988820"/>
            <a:ext cx="292608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012680" y="1600200"/>
            <a:ext cx="1600200" cy="777240"/>
          </a:xfrm>
          <a:prstGeom prst="roundRect">
            <a:avLst>
              <a:gd name="adj" fmla="val 8235"/>
            </a:avLst>
          </a:prstGeom>
          <a:solidFill>
            <a:srgbClr val="0E8E82"/>
          </a:solidFill>
          <a:ln w="12700">
            <a:solidFill>
              <a:srgbClr val="0E8E82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012680" y="16002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27164" y="3154680"/>
            <a:ext cx="0" cy="0"/>
          </a:xfrm>
          <a:prstGeom prst="line">
            <a:avLst/>
          </a:prstGeom>
          <a:noFill/>
          <a:ln w="15875">
            <a:solidFill>
              <a:srgbClr val="B45309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95544" y="28803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retest → returns to Fix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 Severity Levels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63500" dist="25400" dir="5400000" algn="bl" rotWithShape="0">
              <a:srgbClr val="1E2761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31520" y="3803904"/>
            <a:ext cx="2350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31520" y="42245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crashes or a major feature is completely broken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429000" y="36576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63500" dist="25400" dir="5400000" algn="bl" rotWithShape="0">
              <a:srgbClr val="1E2761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3611880" y="3803904"/>
            <a:ext cx="2350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3611880" y="42245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does not work correctly but the system still runs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6309360" y="36576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63500" dist="25400" dir="5400000" algn="bl" rotWithShape="0">
              <a:srgbClr val="1E2761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6492240" y="3803904"/>
            <a:ext cx="2350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6492240" y="42245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issue that does not affect main functionality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9189720" y="36576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63500" dist="25400" dir="5400000" algn="bl" rotWithShape="0">
              <a:srgbClr val="1E2761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9372600" y="3803904"/>
            <a:ext cx="2350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</a:t>
            </a:r>
            <a:endParaRPr lang="en-US" sz="1300" dirty="0"/>
          </a:p>
        </p:txBody>
      </p:sp>
      <p:sp>
        <p:nvSpPr>
          <p:cNvPr id="39" name="Text 33"/>
          <p:cNvSpPr/>
          <p:nvPr/>
        </p:nvSpPr>
        <p:spPr>
          <a:xfrm>
            <a:off x="9372600" y="42245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cosmetic issue such as spelling or alignment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Quality Assurance Plan  |  Doctor Appointment Booking System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10–11. Configuration &amp; Risk Management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Management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43000" y="1901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43000" y="21488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and GitHub manage all source code versions with descriptive commits.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43000" y="2697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43000" y="29443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or code changes require project manager approval.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143000" y="34930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Management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143000" y="373989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release is tagged in GitHub for rollback if needed.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143000" y="42885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Management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143000" y="453542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and project files are backed up daily.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626364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Register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874520"/>
          <a:ext cx="5120640" cy="2633472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Prob.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340"/>
                          </a:solidFill>
                        </a:rPr>
                        <a:t>Requirements change during development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5B6B8C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5B6B8C"/>
                          </a:solidFill>
                        </a:rPr>
                        <a:t>Med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340"/>
                          </a:solidFill>
                        </a:rPr>
                        <a:t>Development takes longer than planned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5B6B8C"/>
                          </a:solidFill>
                        </a:rPr>
                        <a:t>Medium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5B6B8C"/>
                          </a:solidFill>
                        </a:rPr>
                        <a:t>Med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340"/>
                          </a:solidFill>
                        </a:rPr>
                        <a:t>Security weaknesses in the system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5B6B8C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5B6B8C"/>
                          </a:solidFill>
                        </a:rPr>
                        <a:t>Low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340"/>
                          </a:solidFill>
                        </a:rPr>
                        <a:t>System fails or crashes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5B6B8C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5B6B8C"/>
                          </a:solidFill>
                        </a:rPr>
                        <a:t>Low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340"/>
                          </a:solidFill>
                        </a:rPr>
                        <a:t>Important data gets lost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5B6B8C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5B6B8C"/>
                          </a:solidFill>
                        </a:rPr>
                        <a:t>Low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A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 15"/>
          <p:cNvSpPr/>
          <p:nvPr/>
        </p:nvSpPr>
        <p:spPr>
          <a:xfrm>
            <a:off x="6263640" y="4617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regular stakeholder meetings, weekly progress reviews, secure coding practices, and daily backups.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Quality Assurance Plan  |  Doctor Appointment Booking System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12–13. Quality Metrics &amp; Tools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 tracked throughout development and testing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73352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FD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Density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per module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79776" y="150876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71216" y="1673352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FD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95%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871216" y="228600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Resolution Rate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16936" y="26060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successfully fixed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10912" y="150876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02352" y="1673352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FD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85%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102352" y="228600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48072" y="26060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covered by tests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242048" y="150876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33488" y="1673352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FD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90%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333488" y="228600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Pass Rate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79208" y="26060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passing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473184" y="150876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564624" y="1673352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FD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85%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564624" y="228600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Satisfaction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610344" y="26060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participants satisfied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864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388620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63500" dist="25400" dir="5400000" algn="bl" rotWithShape="0">
              <a:srgbClr val="1E2761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21792" y="399592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21792" y="4224528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468880" y="388620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63500" dist="25400" dir="5400000" algn="bl" rotWithShape="0">
              <a:srgbClr val="1E2761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2542032" y="399592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2542032" y="4224528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4389120" y="388620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63500" dist="25400" dir="5400000" algn="bl" rotWithShape="0">
              <a:srgbClr val="1E2761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4462272" y="399592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4462272" y="4224528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6309360" y="388620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63500" dist="25400" dir="5400000" algn="bl" rotWithShape="0">
              <a:srgbClr val="1E2761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/>
          <p:nvPr/>
        </p:nvSpPr>
        <p:spPr>
          <a:xfrm>
            <a:off x="6382512" y="399592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6382512" y="4224528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800" dirty="0"/>
          </a:p>
        </p:txBody>
      </p:sp>
      <p:sp>
        <p:nvSpPr>
          <p:cNvPr id="41" name="Shape 35"/>
          <p:cNvSpPr/>
          <p:nvPr/>
        </p:nvSpPr>
        <p:spPr>
          <a:xfrm>
            <a:off x="8229600" y="388620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63500" dist="25400" dir="5400000" algn="bl" rotWithShape="0">
              <a:srgbClr val="1E2761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36"/>
          <p:cNvSpPr/>
          <p:nvPr/>
        </p:nvSpPr>
        <p:spPr>
          <a:xfrm>
            <a:off x="8302752" y="399592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8302752" y="4224528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Editor</a:t>
            </a:r>
            <a:endParaRPr lang="en-US" sz="800" dirty="0"/>
          </a:p>
        </p:txBody>
      </p:sp>
      <p:sp>
        <p:nvSpPr>
          <p:cNvPr id="45" name="Shape 38"/>
          <p:cNvSpPr/>
          <p:nvPr/>
        </p:nvSpPr>
        <p:spPr>
          <a:xfrm>
            <a:off x="10149840" y="388620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AF5"/>
            </a:solidFill>
            <a:prstDash val="solid"/>
          </a:ln>
          <a:effectLst>
            <a:outerShdw blurRad="63500" dist="25400" dir="5400000" algn="bl" rotWithShape="0">
              <a:srgbClr val="1E2761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39"/>
          <p:cNvSpPr/>
          <p:nvPr/>
        </p:nvSpPr>
        <p:spPr>
          <a:xfrm>
            <a:off x="10222992" y="399592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000" dirty="0"/>
          </a:p>
        </p:txBody>
      </p:sp>
      <p:sp>
        <p:nvSpPr>
          <p:cNvPr id="48" name="Text 40"/>
          <p:cNvSpPr/>
          <p:nvPr/>
        </p:nvSpPr>
        <p:spPr>
          <a:xfrm>
            <a:off x="10222992" y="4224528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49" name="Text 41"/>
          <p:cNvSpPr/>
          <p:nvPr/>
        </p:nvSpPr>
        <p:spPr>
          <a:xfrm>
            <a:off x="548640" y="46817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</a:t>
            </a: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github.com/git-rafaykhan/doctor-oppointment-booking</a:t>
            </a:r>
            <a:endParaRPr lang="en-US" sz="1100" dirty="0"/>
          </a:p>
        </p:txBody>
      </p:sp>
      <p:sp>
        <p:nvSpPr>
          <p:cNvPr id="50" name="Text 42"/>
          <p:cNvSpPr/>
          <p:nvPr/>
        </p:nvSpPr>
        <p:spPr>
          <a:xfrm>
            <a:off x="457200" y="6080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Quality Assurance Plan  |  Doctor Appointment Booking System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11277295" y="6080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56032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685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 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667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Software Quality Assurance Plan covers all quality-related activities for the Doctor Appointment Booking System — requirement analysis, testing strategy, defect management, configuration management, risk management, and quality metrics — prepared in accordance with IEEE 730:2014.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following this plan, the team ensures the system is tested properly, defects are resolved on time, and the final product meets the needs of patients, doctors, and administrators — delivered as a reliable, secure, and user-friendly product.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1509</Words>
  <Application>Microsoft Office PowerPoint</Application>
  <PresentationFormat>Widescreen</PresentationFormat>
  <Paragraphs>332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Quality Assurance Plan - Doctor Appointment Booking System</dc:title>
  <dc:subject>PptxGenJS Presentation</dc:subject>
  <dc:creator>Nazish Khan, M Abdul Rafay, M Ali Atif</dc:creator>
  <cp:lastModifiedBy>Abdul Rafay</cp:lastModifiedBy>
  <cp:revision>2</cp:revision>
  <dcterms:created xsi:type="dcterms:W3CDTF">2026-07-01T21:12:30Z</dcterms:created>
  <dcterms:modified xsi:type="dcterms:W3CDTF">2026-07-01T21:57:34Z</dcterms:modified>
</cp:coreProperties>
</file>