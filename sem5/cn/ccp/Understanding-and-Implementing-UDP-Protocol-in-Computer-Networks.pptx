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Raleway" pitchFamily="2" charset="0"/>
      <p:regular r:id="rId11"/>
    </p:embeddedFont>
    <p:embeddedFont>
      <p:font typeface="Roboto" panose="020000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9610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txBody>
          <a:bodyPr/>
          <a:lstStyle/>
          <a:p>
            <a:endParaRPr lang="en-US"/>
          </a:p>
        </p:txBody>
      </p:sp>
      <p:sp>
        <p:nvSpPr>
          <p:cNvPr id="3" name="Shape 1"/>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989898"/>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1B1B27"/>
                </a:solidFill>
                <a:latin typeface="Raleway" pitchFamily="34" charset="0"/>
                <a:ea typeface="Raleway" pitchFamily="34" charset="-122"/>
                <a:cs typeface="Raleway" pitchFamily="34" charset="-120"/>
              </a:rPr>
              <a:t>Understanding and Implementing UDP Protocol in Computer Networks</a:t>
            </a:r>
            <a:endParaRPr lang="en-US" sz="3900" dirty="0"/>
          </a:p>
        </p:txBody>
      </p:sp>
      <p:sp>
        <p:nvSpPr>
          <p:cNvPr id="4" name="Text 1"/>
          <p:cNvSpPr/>
          <p:nvPr/>
        </p:nvSpPr>
        <p:spPr>
          <a:xfrm>
            <a:off x="793790" y="4929426"/>
            <a:ext cx="6807875" cy="310158"/>
          </a:xfrm>
          <a:prstGeom prst="rect">
            <a:avLst/>
          </a:prstGeom>
          <a:noFill/>
          <a:ln/>
        </p:spPr>
        <p:txBody>
          <a:bodyPr wrap="none" lIns="0" tIns="0" rIns="0" bIns="0" rtlCol="0" anchor="t"/>
          <a:lstStyle/>
          <a:p>
            <a:pPr marL="0" indent="0" algn="l">
              <a:lnSpc>
                <a:spcPts val="2400"/>
              </a:lnSpc>
              <a:buNone/>
            </a:pPr>
            <a:r>
              <a:rPr lang="en-US" sz="1950" dirty="0">
                <a:solidFill>
                  <a:srgbClr val="1B1B27"/>
                </a:solidFill>
                <a:latin typeface="Raleway" pitchFamily="34" charset="0"/>
                <a:ea typeface="Raleway" pitchFamily="34" charset="-122"/>
                <a:cs typeface="Raleway" pitchFamily="34" charset="-120"/>
              </a:rPr>
              <a:t>BS Software Engineering - Computer Networks CCP Project</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84208"/>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Raleway" pitchFamily="34" charset="0"/>
                <a:ea typeface="Raleway" pitchFamily="34" charset="-122"/>
                <a:cs typeface="Raleway" pitchFamily="34" charset="-120"/>
              </a:rPr>
              <a:t>Introduction</a:t>
            </a:r>
            <a:endParaRPr lang="en-US" sz="3900" dirty="0"/>
          </a:p>
        </p:txBody>
      </p:sp>
      <p:sp>
        <p:nvSpPr>
          <p:cNvPr id="3" name="Text 1"/>
          <p:cNvSpPr/>
          <p:nvPr/>
        </p:nvSpPr>
        <p:spPr>
          <a:xfrm>
            <a:off x="793790" y="230112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The User Datagram Protocol (UDP) stands as a foundational component within the transport layer of computer networks. Unlike its more robust counterpart, TCP, UDP is designed for speed and efficiency, offering a minimalist approach to data transmission.</a:t>
            </a:r>
            <a:endParaRPr lang="en-US" sz="1550" dirty="0"/>
          </a:p>
        </p:txBody>
      </p:sp>
      <p:sp>
        <p:nvSpPr>
          <p:cNvPr id="4" name="Shape 2"/>
          <p:cNvSpPr/>
          <p:nvPr/>
        </p:nvSpPr>
        <p:spPr>
          <a:xfrm>
            <a:off x="793790" y="3159443"/>
            <a:ext cx="6422231" cy="1793796"/>
          </a:xfrm>
          <a:prstGeom prst="roundRect">
            <a:avLst>
              <a:gd name="adj" fmla="val 26555"/>
            </a:avLst>
          </a:prstGeom>
          <a:solidFill>
            <a:srgbClr val="E1E1EA"/>
          </a:solidFill>
          <a:ln w="7620">
            <a:solidFill>
              <a:srgbClr val="C7C7D0"/>
            </a:solidFill>
            <a:prstDash val="solid"/>
          </a:ln>
        </p:spPr>
        <p:txBody>
          <a:bodyPr/>
          <a:lstStyle/>
          <a:p>
            <a:endParaRPr lang="en-US"/>
          </a:p>
        </p:txBody>
      </p:sp>
      <p:sp>
        <p:nvSpPr>
          <p:cNvPr id="5" name="Text 3"/>
          <p:cNvSpPr/>
          <p:nvPr/>
        </p:nvSpPr>
        <p:spPr>
          <a:xfrm>
            <a:off x="999768" y="3365421"/>
            <a:ext cx="3408402"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Raleway" pitchFamily="34" charset="0"/>
                <a:ea typeface="Raleway" pitchFamily="34" charset="-122"/>
                <a:cs typeface="Raleway" pitchFamily="34" charset="-120"/>
              </a:rPr>
              <a:t>Core Transport Layer Protocol</a:t>
            </a:r>
            <a:endParaRPr lang="en-US" sz="1950" dirty="0"/>
          </a:p>
        </p:txBody>
      </p:sp>
      <p:sp>
        <p:nvSpPr>
          <p:cNvPr id="6" name="Text 4"/>
          <p:cNvSpPr/>
          <p:nvPr/>
        </p:nvSpPr>
        <p:spPr>
          <a:xfrm>
            <a:off x="999768" y="3794641"/>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UDP facilitates rapid, connectionless communication, making it indispensable for certain types of network interactions.</a:t>
            </a:r>
            <a:endParaRPr lang="en-US" sz="1550" dirty="0"/>
          </a:p>
        </p:txBody>
      </p:sp>
      <p:sp>
        <p:nvSpPr>
          <p:cNvPr id="7" name="Shape 5"/>
          <p:cNvSpPr/>
          <p:nvPr/>
        </p:nvSpPr>
        <p:spPr>
          <a:xfrm>
            <a:off x="7414379" y="3159443"/>
            <a:ext cx="6422231" cy="1793796"/>
          </a:xfrm>
          <a:prstGeom prst="roundRect">
            <a:avLst>
              <a:gd name="adj" fmla="val 26555"/>
            </a:avLst>
          </a:prstGeom>
          <a:solidFill>
            <a:srgbClr val="E1E1EA"/>
          </a:solidFill>
          <a:ln w="7620">
            <a:solidFill>
              <a:srgbClr val="C7C7D0"/>
            </a:solidFill>
            <a:prstDash val="solid"/>
          </a:ln>
        </p:spPr>
        <p:txBody>
          <a:bodyPr/>
          <a:lstStyle/>
          <a:p>
            <a:endParaRPr lang="en-US"/>
          </a:p>
        </p:txBody>
      </p:sp>
      <p:sp>
        <p:nvSpPr>
          <p:cNvPr id="8" name="Text 6"/>
          <p:cNvSpPr/>
          <p:nvPr/>
        </p:nvSpPr>
        <p:spPr>
          <a:xfrm>
            <a:off x="7620357" y="3365421"/>
            <a:ext cx="253043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Raleway" pitchFamily="34" charset="0"/>
                <a:ea typeface="Raleway" pitchFamily="34" charset="-122"/>
                <a:cs typeface="Raleway" pitchFamily="34" charset="-120"/>
              </a:rPr>
              <a:t>Fast &amp; Connectionless</a:t>
            </a:r>
            <a:endParaRPr lang="en-US" sz="1950" dirty="0"/>
          </a:p>
        </p:txBody>
      </p:sp>
      <p:sp>
        <p:nvSpPr>
          <p:cNvPr id="9" name="Text 7"/>
          <p:cNvSpPr/>
          <p:nvPr/>
        </p:nvSpPr>
        <p:spPr>
          <a:xfrm>
            <a:off x="7620357" y="3794641"/>
            <a:ext cx="6010275"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It excels in scenarios where low latency and high throughput are prioritized over guaranteed delivery, transmitting data over IP without establishing a dedicated session.</a:t>
            </a:r>
            <a:endParaRPr lang="en-US" sz="1550" dirty="0"/>
          </a:p>
        </p:txBody>
      </p:sp>
      <p:sp>
        <p:nvSpPr>
          <p:cNvPr id="10" name="Shape 8"/>
          <p:cNvSpPr/>
          <p:nvPr/>
        </p:nvSpPr>
        <p:spPr>
          <a:xfrm>
            <a:off x="793790" y="5151596"/>
            <a:ext cx="6422231" cy="1793796"/>
          </a:xfrm>
          <a:prstGeom prst="roundRect">
            <a:avLst>
              <a:gd name="adj" fmla="val 26555"/>
            </a:avLst>
          </a:prstGeom>
          <a:solidFill>
            <a:srgbClr val="E1E1EA"/>
          </a:solidFill>
          <a:ln w="7620">
            <a:solidFill>
              <a:srgbClr val="C7C7D0"/>
            </a:solidFill>
            <a:prstDash val="solid"/>
          </a:ln>
        </p:spPr>
        <p:txBody>
          <a:bodyPr/>
          <a:lstStyle/>
          <a:p>
            <a:endParaRPr lang="en-US"/>
          </a:p>
        </p:txBody>
      </p:sp>
      <p:sp>
        <p:nvSpPr>
          <p:cNvPr id="11" name="Text 9"/>
          <p:cNvSpPr/>
          <p:nvPr/>
        </p:nvSpPr>
        <p:spPr>
          <a:xfrm>
            <a:off x="999768" y="5357574"/>
            <a:ext cx="2587228"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Raleway" pitchFamily="34" charset="0"/>
                <a:ea typeface="Raleway" pitchFamily="34" charset="-122"/>
                <a:cs typeface="Raleway" pitchFamily="34" charset="-120"/>
              </a:rPr>
              <a:t>Real-time Applications</a:t>
            </a:r>
            <a:endParaRPr lang="en-US" sz="1950" dirty="0"/>
          </a:p>
        </p:txBody>
      </p:sp>
      <p:sp>
        <p:nvSpPr>
          <p:cNvPr id="12" name="Text 10"/>
          <p:cNvSpPr/>
          <p:nvPr/>
        </p:nvSpPr>
        <p:spPr>
          <a:xfrm>
            <a:off x="999768" y="5786795"/>
            <a:ext cx="6010275"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Its characteristics make it a go-to choice for real-time and time-sensitive applications where a slight data loss is acceptable if it means maintaining continuity and speed.</a:t>
            </a:r>
            <a:endParaRPr lang="en-US" sz="1550" dirty="0"/>
          </a:p>
        </p:txBody>
      </p:sp>
      <p:sp>
        <p:nvSpPr>
          <p:cNvPr id="13" name="Shape 11"/>
          <p:cNvSpPr/>
          <p:nvPr/>
        </p:nvSpPr>
        <p:spPr>
          <a:xfrm>
            <a:off x="7414379" y="5151596"/>
            <a:ext cx="6422231" cy="1793796"/>
          </a:xfrm>
          <a:prstGeom prst="roundRect">
            <a:avLst>
              <a:gd name="adj" fmla="val 26555"/>
            </a:avLst>
          </a:prstGeom>
          <a:solidFill>
            <a:srgbClr val="E1E1EA"/>
          </a:solidFill>
          <a:ln w="7620">
            <a:solidFill>
              <a:srgbClr val="C7C7D0"/>
            </a:solidFill>
            <a:prstDash val="solid"/>
          </a:ln>
        </p:spPr>
        <p:txBody>
          <a:bodyPr/>
          <a:lstStyle/>
          <a:p>
            <a:endParaRPr lang="en-US"/>
          </a:p>
        </p:txBody>
      </p:sp>
      <p:sp>
        <p:nvSpPr>
          <p:cNvPr id="14" name="Text 12"/>
          <p:cNvSpPr/>
          <p:nvPr/>
        </p:nvSpPr>
        <p:spPr>
          <a:xfrm>
            <a:off x="7620357" y="535757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Raleway" pitchFamily="34" charset="0"/>
                <a:ea typeface="Raleway" pitchFamily="34" charset="-122"/>
                <a:cs typeface="Raleway" pitchFamily="34" charset="-120"/>
              </a:rPr>
              <a:t>Project Focus</a:t>
            </a:r>
            <a:endParaRPr lang="en-US" sz="1950" dirty="0"/>
          </a:p>
        </p:txBody>
      </p:sp>
      <p:sp>
        <p:nvSpPr>
          <p:cNvPr id="15" name="Text 13"/>
          <p:cNvSpPr/>
          <p:nvPr/>
        </p:nvSpPr>
        <p:spPr>
          <a:xfrm>
            <a:off x="7620357" y="5786795"/>
            <a:ext cx="6010275"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This project delves into a comprehensive understanding of UDP's mechanics and explores its practical implementation within various network contexts.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3042" y="521017"/>
            <a:ext cx="4729639" cy="591145"/>
          </a:xfrm>
          <a:prstGeom prst="rect">
            <a:avLst/>
          </a:prstGeom>
          <a:noFill/>
          <a:ln/>
        </p:spPr>
        <p:txBody>
          <a:bodyPr wrap="none" lIns="0" tIns="0" rIns="0" bIns="0" rtlCol="0" anchor="t"/>
          <a:lstStyle/>
          <a:p>
            <a:pPr marL="0" indent="0" algn="l">
              <a:lnSpc>
                <a:spcPts val="4650"/>
              </a:lnSpc>
              <a:buNone/>
            </a:pPr>
            <a:r>
              <a:rPr lang="en-US" sz="3700" dirty="0">
                <a:solidFill>
                  <a:srgbClr val="1B1B27"/>
                </a:solidFill>
                <a:latin typeface="Raleway" pitchFamily="34" charset="0"/>
                <a:ea typeface="Raleway" pitchFamily="34" charset="-122"/>
                <a:cs typeface="Raleway" pitchFamily="34" charset="-120"/>
              </a:rPr>
              <a:t>Objectives</a:t>
            </a:r>
            <a:endParaRPr lang="en-US" sz="3700" dirty="0"/>
          </a:p>
        </p:txBody>
      </p:sp>
      <p:sp>
        <p:nvSpPr>
          <p:cNvPr id="4" name="Text 1"/>
          <p:cNvSpPr/>
          <p:nvPr/>
        </p:nvSpPr>
        <p:spPr>
          <a:xfrm>
            <a:off x="6243042" y="1395889"/>
            <a:ext cx="7630716" cy="907971"/>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Our exploration of the UDP protocol aims to clarify its role and functionality within the intricate landscape of computer networks. Through this project, we will cover several key objectives to provide a holistic understanding of UDP.</a:t>
            </a:r>
            <a:endParaRPr lang="en-US" sz="14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4003" y="2522518"/>
            <a:ext cx="283726" cy="283726"/>
          </a:xfrm>
          <a:prstGeom prst="rect">
            <a:avLst/>
          </a:prstGeom>
        </p:spPr>
      </p:pic>
      <p:sp>
        <p:nvSpPr>
          <p:cNvPr id="6" name="Text 2"/>
          <p:cNvSpPr/>
          <p:nvPr/>
        </p:nvSpPr>
        <p:spPr>
          <a:xfrm>
            <a:off x="6857762" y="2516624"/>
            <a:ext cx="2364819" cy="295513"/>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Define UDP</a:t>
            </a:r>
            <a:endParaRPr lang="en-US" sz="1850" dirty="0"/>
          </a:p>
        </p:txBody>
      </p:sp>
      <p:sp>
        <p:nvSpPr>
          <p:cNvPr id="7" name="Text 3"/>
          <p:cNvSpPr/>
          <p:nvPr/>
        </p:nvSpPr>
        <p:spPr>
          <a:xfrm>
            <a:off x="6857762" y="2925604"/>
            <a:ext cx="7015996" cy="605314"/>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Clearly articulate the fundamental principles and operational characteristics of the User Datagram Protocol.</a:t>
            </a:r>
            <a:endParaRPr lang="en-US" sz="14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4003" y="3915073"/>
            <a:ext cx="283726" cy="283726"/>
          </a:xfrm>
          <a:prstGeom prst="rect">
            <a:avLst/>
          </a:prstGeom>
        </p:spPr>
      </p:pic>
      <p:sp>
        <p:nvSpPr>
          <p:cNvPr id="9" name="Text 4"/>
          <p:cNvSpPr/>
          <p:nvPr/>
        </p:nvSpPr>
        <p:spPr>
          <a:xfrm>
            <a:off x="6857762" y="3909179"/>
            <a:ext cx="2364819" cy="295513"/>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Compare with TCP</a:t>
            </a:r>
            <a:endParaRPr lang="en-US" sz="1850" dirty="0"/>
          </a:p>
        </p:txBody>
      </p:sp>
      <p:sp>
        <p:nvSpPr>
          <p:cNvPr id="10" name="Text 5"/>
          <p:cNvSpPr/>
          <p:nvPr/>
        </p:nvSpPr>
        <p:spPr>
          <a:xfrm>
            <a:off x="6857762" y="4318159"/>
            <a:ext cx="7015996" cy="605314"/>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Highlight the crucial distinctions between UDP and TCP, elucidating why each protocol is suited for different networking requirements.</a:t>
            </a:r>
            <a:endParaRPr lang="en-US" sz="1450" dirty="0"/>
          </a:p>
        </p:txBody>
      </p:sp>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4003" y="5307628"/>
            <a:ext cx="283726" cy="283726"/>
          </a:xfrm>
          <a:prstGeom prst="rect">
            <a:avLst/>
          </a:prstGeom>
        </p:spPr>
      </p:pic>
      <p:sp>
        <p:nvSpPr>
          <p:cNvPr id="12" name="Text 6"/>
          <p:cNvSpPr/>
          <p:nvPr/>
        </p:nvSpPr>
        <p:spPr>
          <a:xfrm>
            <a:off x="6857762" y="5301734"/>
            <a:ext cx="2364819" cy="295513"/>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Discuss Pros &amp; Cons</a:t>
            </a:r>
            <a:endParaRPr lang="en-US" sz="1850" dirty="0"/>
          </a:p>
        </p:txBody>
      </p:sp>
      <p:sp>
        <p:nvSpPr>
          <p:cNvPr id="13" name="Text 7"/>
          <p:cNvSpPr/>
          <p:nvPr/>
        </p:nvSpPr>
        <p:spPr>
          <a:xfrm>
            <a:off x="6857762" y="5710714"/>
            <a:ext cx="7015996" cy="605314"/>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Analyze the inherent advantages and disadvantages of employing UDP in various networking scenarios.</a:t>
            </a:r>
            <a:endParaRPr lang="en-US" sz="1450" dirty="0"/>
          </a:p>
        </p:txBody>
      </p:sp>
      <p:pic>
        <p:nvPicPr>
          <p:cNvPr id="14"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4003" y="6700183"/>
            <a:ext cx="283726" cy="283726"/>
          </a:xfrm>
          <a:prstGeom prst="rect">
            <a:avLst/>
          </a:prstGeom>
        </p:spPr>
      </p:pic>
      <p:sp>
        <p:nvSpPr>
          <p:cNvPr id="15" name="Text 8"/>
          <p:cNvSpPr/>
          <p:nvPr/>
        </p:nvSpPr>
        <p:spPr>
          <a:xfrm>
            <a:off x="6857762" y="6694289"/>
            <a:ext cx="4431863" cy="295513"/>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Overview Implementation &amp; Applications</a:t>
            </a:r>
            <a:endParaRPr lang="en-US" sz="1850" dirty="0"/>
          </a:p>
        </p:txBody>
      </p:sp>
      <p:sp>
        <p:nvSpPr>
          <p:cNvPr id="16" name="Text 9"/>
          <p:cNvSpPr/>
          <p:nvPr/>
        </p:nvSpPr>
        <p:spPr>
          <a:xfrm>
            <a:off x="6857762" y="7103269"/>
            <a:ext cx="7015996" cy="605314"/>
          </a:xfrm>
          <a:prstGeom prst="rect">
            <a:avLst/>
          </a:prstGeom>
          <a:noFill/>
          <a:ln/>
        </p:spPr>
        <p:txBody>
          <a:bodyPr wrap="square" lIns="0" tIns="0" rIns="0" bIns="0" rtlCol="0" anchor="t"/>
          <a:lstStyle/>
          <a:p>
            <a:pPr marL="0" indent="0" algn="l">
              <a:lnSpc>
                <a:spcPts val="2350"/>
              </a:lnSpc>
              <a:buNone/>
            </a:pPr>
            <a:r>
              <a:rPr lang="en-US" sz="1450" dirty="0">
                <a:solidFill>
                  <a:srgbClr val="3C3939"/>
                </a:solidFill>
                <a:latin typeface="Roboto" pitchFamily="34" charset="0"/>
                <a:ea typeface="Roboto" pitchFamily="34" charset="-122"/>
                <a:cs typeface="Roboto" pitchFamily="34" charset="-120"/>
              </a:rPr>
              <a:t>Provide insights into how UDP is implemented in software and explore its diverse range of common applications in modern computing.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1268" y="427196"/>
            <a:ext cx="3883581" cy="485418"/>
          </a:xfrm>
          <a:prstGeom prst="rect">
            <a:avLst/>
          </a:prstGeom>
          <a:noFill/>
          <a:ln/>
        </p:spPr>
        <p:txBody>
          <a:bodyPr wrap="none" lIns="0" tIns="0" rIns="0" bIns="0" rtlCol="0" anchor="t"/>
          <a:lstStyle/>
          <a:p>
            <a:pPr marL="0" indent="0" algn="l">
              <a:lnSpc>
                <a:spcPts val="3800"/>
              </a:lnSpc>
              <a:buNone/>
            </a:pPr>
            <a:r>
              <a:rPr lang="en-US" sz="3050" dirty="0">
                <a:solidFill>
                  <a:srgbClr val="1B1B27"/>
                </a:solidFill>
                <a:latin typeface="Raleway" pitchFamily="34" charset="0"/>
                <a:ea typeface="Raleway" pitchFamily="34" charset="-122"/>
                <a:cs typeface="Raleway" pitchFamily="34" charset="-120"/>
              </a:rPr>
              <a:t>What is UDP?</a:t>
            </a:r>
            <a:endParaRPr lang="en-US" sz="3050" dirty="0"/>
          </a:p>
        </p:txBody>
      </p:sp>
      <p:sp>
        <p:nvSpPr>
          <p:cNvPr id="3" name="Text 1"/>
          <p:cNvSpPr/>
          <p:nvPr/>
        </p:nvSpPr>
        <p:spPr>
          <a:xfrm>
            <a:off x="621268" y="1223248"/>
            <a:ext cx="13387864" cy="497205"/>
          </a:xfrm>
          <a:prstGeom prst="rect">
            <a:avLst/>
          </a:prstGeom>
          <a:noFill/>
          <a:ln/>
        </p:spPr>
        <p:txBody>
          <a:bodyPr wrap="square" lIns="0" tIns="0" rIns="0" bIns="0" rtlCol="0" anchor="t"/>
          <a:lstStyle/>
          <a:p>
            <a:pPr marL="0" indent="0" algn="l">
              <a:lnSpc>
                <a:spcPts val="1950"/>
              </a:lnSpc>
              <a:buNone/>
            </a:pPr>
            <a:r>
              <a:rPr lang="en-US" sz="1200" dirty="0">
                <a:solidFill>
                  <a:srgbClr val="3C3939"/>
                </a:solidFill>
                <a:latin typeface="Roboto" pitchFamily="34" charset="0"/>
                <a:ea typeface="Roboto" pitchFamily="34" charset="-122"/>
                <a:cs typeface="Roboto" pitchFamily="34" charset="-120"/>
              </a:rPr>
              <a:t>The User Datagram Protocol (UDP) is a simple, lightweight, and connectionless transport layer protocol defined by RFC 768. It operates directly over the Internet Protocol (IP), providing a mechanism for sending individual units of data, known as datagrams, without prior connection establishment.</a:t>
            </a:r>
            <a:endParaRPr lang="en-US" sz="1200" dirty="0"/>
          </a:p>
        </p:txBody>
      </p:sp>
      <p:sp>
        <p:nvSpPr>
          <p:cNvPr id="4" name="Text 2"/>
          <p:cNvSpPr/>
          <p:nvPr/>
        </p:nvSpPr>
        <p:spPr>
          <a:xfrm>
            <a:off x="621268" y="2034897"/>
            <a:ext cx="6504503" cy="497205"/>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3C3939"/>
                </a:solidFill>
                <a:latin typeface="Roboto" pitchFamily="34" charset="0"/>
                <a:ea typeface="Roboto" pitchFamily="34" charset="-122"/>
                <a:cs typeface="Roboto" pitchFamily="34" charset="-120"/>
              </a:rPr>
              <a:t>User Datagram Protocol:</a:t>
            </a:r>
            <a:r>
              <a:rPr lang="en-US" sz="1200" dirty="0">
                <a:solidFill>
                  <a:srgbClr val="3C3939"/>
                </a:solidFill>
                <a:latin typeface="Roboto" pitchFamily="34" charset="0"/>
                <a:ea typeface="Roboto" pitchFamily="34" charset="-122"/>
                <a:cs typeface="Roboto" pitchFamily="34" charset="-120"/>
              </a:rPr>
              <a:t> A minimal message-oriented transport layer protocol that provides a best-effort delivery service.</a:t>
            </a:r>
            <a:endParaRPr lang="en-US" sz="1200" dirty="0"/>
          </a:p>
        </p:txBody>
      </p:sp>
      <p:sp>
        <p:nvSpPr>
          <p:cNvPr id="5" name="Text 3"/>
          <p:cNvSpPr/>
          <p:nvPr/>
        </p:nvSpPr>
        <p:spPr>
          <a:xfrm>
            <a:off x="621268" y="2586395"/>
            <a:ext cx="6504503" cy="745808"/>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3C3939"/>
                </a:solidFill>
                <a:latin typeface="Roboto" pitchFamily="34" charset="0"/>
                <a:ea typeface="Roboto" pitchFamily="34" charset="-122"/>
                <a:cs typeface="Roboto" pitchFamily="34" charset="-120"/>
              </a:rPr>
              <a:t>Lightweight &amp; Connectionless:</a:t>
            </a:r>
            <a:r>
              <a:rPr lang="en-US" sz="1200" dirty="0">
                <a:solidFill>
                  <a:srgbClr val="3C3939"/>
                </a:solidFill>
                <a:latin typeface="Roboto" pitchFamily="34" charset="0"/>
                <a:ea typeface="Roboto" pitchFamily="34" charset="-122"/>
                <a:cs typeface="Roboto" pitchFamily="34" charset="-120"/>
              </a:rPr>
              <a:t> Unlike TCP, UDP does not require a handshake to establish a connection, making it faster but less reliable. This simplicity reduces overhead and latency.</a:t>
            </a:r>
            <a:endParaRPr lang="en-US" sz="1200" dirty="0"/>
          </a:p>
        </p:txBody>
      </p:sp>
      <p:sp>
        <p:nvSpPr>
          <p:cNvPr id="6" name="Text 4"/>
          <p:cNvSpPr/>
          <p:nvPr/>
        </p:nvSpPr>
        <p:spPr>
          <a:xfrm>
            <a:off x="621268" y="3386495"/>
            <a:ext cx="6504503" cy="745808"/>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3C3939"/>
                </a:solidFill>
                <a:latin typeface="Roboto" pitchFamily="34" charset="0"/>
                <a:ea typeface="Roboto" pitchFamily="34" charset="-122"/>
                <a:cs typeface="Roboto" pitchFamily="34" charset="-120"/>
              </a:rPr>
              <a:t>Datagram Transmission:</a:t>
            </a:r>
            <a:r>
              <a:rPr lang="en-US" sz="1200" dirty="0">
                <a:solidFill>
                  <a:srgbClr val="3C3939"/>
                </a:solidFill>
                <a:latin typeface="Roboto" pitchFamily="34" charset="0"/>
                <a:ea typeface="Roboto" pitchFamily="34" charset="-122"/>
                <a:cs typeface="Roboto" pitchFamily="34" charset="-120"/>
              </a:rPr>
              <a:t> Data is sent in independent packets called datagrams. Each datagram is treated separately, without any guarantee of delivery, order, or duplication prevention.</a:t>
            </a:r>
            <a:endParaRPr lang="en-US" sz="1200" dirty="0"/>
          </a:p>
        </p:txBody>
      </p:sp>
      <p:sp>
        <p:nvSpPr>
          <p:cNvPr id="7" name="Text 5"/>
          <p:cNvSpPr/>
          <p:nvPr/>
        </p:nvSpPr>
        <p:spPr>
          <a:xfrm>
            <a:off x="621268" y="4186595"/>
            <a:ext cx="6504503" cy="745808"/>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3C3939"/>
                </a:solidFill>
                <a:latin typeface="Roboto" pitchFamily="34" charset="0"/>
                <a:ea typeface="Roboto" pitchFamily="34" charset="-122"/>
                <a:cs typeface="Roboto" pitchFamily="34" charset="-120"/>
              </a:rPr>
              <a:t>Minimal Error Checking:</a:t>
            </a:r>
            <a:r>
              <a:rPr lang="en-US" sz="1200" dirty="0">
                <a:solidFill>
                  <a:srgbClr val="3C3939"/>
                </a:solidFill>
                <a:latin typeface="Roboto" pitchFamily="34" charset="0"/>
                <a:ea typeface="Roboto" pitchFamily="34" charset="-122"/>
                <a:cs typeface="Roboto" pitchFamily="34" charset="-120"/>
              </a:rPr>
              <a:t> UDP offers an optional checksum for basic error detection. If an error is detected, the datagram is usually discarded, but no retransmission is attempted by UDP itself.</a:t>
            </a:r>
            <a:endParaRPr lang="en-US" sz="1200" dirty="0"/>
          </a:p>
        </p:txBody>
      </p:sp>
      <p:sp>
        <p:nvSpPr>
          <p:cNvPr id="8" name="Text 6"/>
          <p:cNvSpPr/>
          <p:nvPr/>
        </p:nvSpPr>
        <p:spPr>
          <a:xfrm>
            <a:off x="621268" y="4986695"/>
            <a:ext cx="6504503" cy="745808"/>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3C3939"/>
                </a:solidFill>
                <a:latin typeface="Roboto" pitchFamily="34" charset="0"/>
                <a:ea typeface="Roboto" pitchFamily="34" charset="-122"/>
                <a:cs typeface="Roboto" pitchFamily="34" charset="-120"/>
              </a:rPr>
              <a:t>No Guarantees:</a:t>
            </a:r>
            <a:r>
              <a:rPr lang="en-US" sz="1200" dirty="0">
                <a:solidFill>
                  <a:srgbClr val="3C3939"/>
                </a:solidFill>
                <a:latin typeface="Roboto" pitchFamily="34" charset="0"/>
                <a:ea typeface="Roboto" pitchFamily="34" charset="-122"/>
                <a:cs typeface="Roboto" pitchFamily="34" charset="-120"/>
              </a:rPr>
              <a:t> Critically, UDP does not guarantee that packets will arrive at their destination, arrive in the correct order, or arrive only once. Applications using UDP must handle these aspects if reliability is needed.</a:t>
            </a:r>
            <a:endParaRPr lang="en-US" sz="1200" dirty="0"/>
          </a:p>
        </p:txBody>
      </p:sp>
      <p:pic>
        <p:nvPicPr>
          <p:cNvPr id="9" name="Image 0" descr="preencoded.png"/>
          <p:cNvPicPr>
            <a:picLocks noChangeAspect="1"/>
          </p:cNvPicPr>
          <p:nvPr/>
        </p:nvPicPr>
        <p:blipFill>
          <a:blip r:embed="rId3"/>
          <a:stretch>
            <a:fillRect/>
          </a:stretch>
        </p:blipFill>
        <p:spPr>
          <a:xfrm>
            <a:off x="7867650" y="1453455"/>
            <a:ext cx="6638925" cy="6638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68918"/>
            <a:ext cx="5575102"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Raleway" pitchFamily="34" charset="0"/>
                <a:ea typeface="Raleway" pitchFamily="34" charset="-122"/>
                <a:cs typeface="Raleway" pitchFamily="34" charset="-120"/>
              </a:rPr>
              <a:t>UDP vs TCP Comparison</a:t>
            </a:r>
            <a:endParaRPr lang="en-US" sz="3900" dirty="0"/>
          </a:p>
        </p:txBody>
      </p:sp>
      <p:sp>
        <p:nvSpPr>
          <p:cNvPr id="3" name="Text 1"/>
          <p:cNvSpPr/>
          <p:nvPr/>
        </p:nvSpPr>
        <p:spPr>
          <a:xfrm>
            <a:off x="793790" y="188583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Understanding the fundamental differences between UDP and TCP is crucial for designing efficient and effective network applications. While both are transport layer protocols, their operational philosophies cater to distinct communication needs.</a:t>
            </a:r>
            <a:endParaRPr lang="en-US" sz="1550" dirty="0"/>
          </a:p>
        </p:txBody>
      </p:sp>
      <p:sp>
        <p:nvSpPr>
          <p:cNvPr id="4" name="Shape 2"/>
          <p:cNvSpPr/>
          <p:nvPr/>
        </p:nvSpPr>
        <p:spPr>
          <a:xfrm>
            <a:off x="793790" y="2744152"/>
            <a:ext cx="13042821" cy="3758208"/>
          </a:xfrm>
          <a:prstGeom prst="roundRect">
            <a:avLst>
              <a:gd name="adj" fmla="val 2218"/>
            </a:avLst>
          </a:prstGeom>
          <a:noFill/>
          <a:ln w="7620">
            <a:solidFill>
              <a:srgbClr val="000000">
                <a:alpha val="8000"/>
              </a:srgbClr>
            </a:solidFill>
            <a:prstDash val="solid"/>
          </a:ln>
        </p:spPr>
        <p:txBody>
          <a:bodyPr/>
          <a:lstStyle/>
          <a:p>
            <a:endParaRPr lang="en-US"/>
          </a:p>
        </p:txBody>
      </p:sp>
      <p:sp>
        <p:nvSpPr>
          <p:cNvPr id="5" name="Shape 3"/>
          <p:cNvSpPr/>
          <p:nvPr/>
        </p:nvSpPr>
        <p:spPr>
          <a:xfrm>
            <a:off x="801410" y="2751773"/>
            <a:ext cx="13027581" cy="570905"/>
          </a:xfrm>
          <a:prstGeom prst="rect">
            <a:avLst/>
          </a:prstGeom>
          <a:solidFill>
            <a:srgbClr val="FFFFFF">
              <a:alpha val="4000"/>
            </a:srgbClr>
          </a:solidFill>
          <a:ln/>
        </p:spPr>
        <p:txBody>
          <a:bodyPr/>
          <a:lstStyle/>
          <a:p>
            <a:endParaRPr lang="en-US"/>
          </a:p>
        </p:txBody>
      </p:sp>
      <p:sp>
        <p:nvSpPr>
          <p:cNvPr id="6" name="Text 4"/>
          <p:cNvSpPr/>
          <p:nvPr/>
        </p:nvSpPr>
        <p:spPr>
          <a:xfrm>
            <a:off x="999887" y="2878455"/>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3C3939"/>
                </a:solidFill>
                <a:latin typeface="Roboto" pitchFamily="34" charset="0"/>
                <a:ea typeface="Roboto" pitchFamily="34" charset="-122"/>
                <a:cs typeface="Roboto" pitchFamily="34" charset="-120"/>
              </a:rPr>
              <a:t>Connection</a:t>
            </a:r>
            <a:endParaRPr lang="en-US" sz="1550" dirty="0"/>
          </a:p>
        </p:txBody>
      </p:sp>
      <p:sp>
        <p:nvSpPr>
          <p:cNvPr id="7" name="Text 5"/>
          <p:cNvSpPr/>
          <p:nvPr/>
        </p:nvSpPr>
        <p:spPr>
          <a:xfrm>
            <a:off x="3609142" y="2878455"/>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Connectionless (no handshake)</a:t>
            </a:r>
            <a:endParaRPr lang="en-US" sz="1550" dirty="0"/>
          </a:p>
        </p:txBody>
      </p:sp>
      <p:sp>
        <p:nvSpPr>
          <p:cNvPr id="8" name="Text 6"/>
          <p:cNvSpPr/>
          <p:nvPr/>
        </p:nvSpPr>
        <p:spPr>
          <a:xfrm>
            <a:off x="8820150" y="2878455"/>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Connection-oriented (three-way handshake)</a:t>
            </a:r>
            <a:endParaRPr lang="en-US" sz="1550" dirty="0"/>
          </a:p>
        </p:txBody>
      </p:sp>
      <p:sp>
        <p:nvSpPr>
          <p:cNvPr id="9" name="Shape 7"/>
          <p:cNvSpPr/>
          <p:nvPr/>
        </p:nvSpPr>
        <p:spPr>
          <a:xfrm>
            <a:off x="801410" y="3322677"/>
            <a:ext cx="13027581" cy="570905"/>
          </a:xfrm>
          <a:prstGeom prst="rect">
            <a:avLst/>
          </a:prstGeom>
          <a:solidFill>
            <a:srgbClr val="000000">
              <a:alpha val="4000"/>
            </a:srgbClr>
          </a:solidFill>
          <a:ln/>
        </p:spPr>
        <p:txBody>
          <a:bodyPr/>
          <a:lstStyle/>
          <a:p>
            <a:endParaRPr lang="en-US"/>
          </a:p>
        </p:txBody>
      </p:sp>
      <p:sp>
        <p:nvSpPr>
          <p:cNvPr id="10" name="Text 8"/>
          <p:cNvSpPr/>
          <p:nvPr/>
        </p:nvSpPr>
        <p:spPr>
          <a:xfrm>
            <a:off x="999887" y="3449360"/>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3C3939"/>
                </a:solidFill>
                <a:latin typeface="Roboto" pitchFamily="34" charset="0"/>
                <a:ea typeface="Roboto" pitchFamily="34" charset="-122"/>
                <a:cs typeface="Roboto" pitchFamily="34" charset="-120"/>
              </a:rPr>
              <a:t>Reliability</a:t>
            </a:r>
            <a:endParaRPr lang="en-US" sz="1550" dirty="0"/>
          </a:p>
        </p:txBody>
      </p:sp>
      <p:sp>
        <p:nvSpPr>
          <p:cNvPr id="11" name="Text 9"/>
          <p:cNvSpPr/>
          <p:nvPr/>
        </p:nvSpPr>
        <p:spPr>
          <a:xfrm>
            <a:off x="3609142" y="3449360"/>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No guaranteed delivery or error recovery</a:t>
            </a:r>
            <a:endParaRPr lang="en-US" sz="1550" dirty="0"/>
          </a:p>
        </p:txBody>
      </p:sp>
      <p:sp>
        <p:nvSpPr>
          <p:cNvPr id="12" name="Text 10"/>
          <p:cNvSpPr/>
          <p:nvPr/>
        </p:nvSpPr>
        <p:spPr>
          <a:xfrm>
            <a:off x="8820150" y="3449360"/>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Guaranteed delivery, error checking, retransmission</a:t>
            </a:r>
            <a:endParaRPr lang="en-US" sz="1550" dirty="0"/>
          </a:p>
        </p:txBody>
      </p:sp>
      <p:sp>
        <p:nvSpPr>
          <p:cNvPr id="13" name="Shape 11"/>
          <p:cNvSpPr/>
          <p:nvPr/>
        </p:nvSpPr>
        <p:spPr>
          <a:xfrm>
            <a:off x="801410" y="3893582"/>
            <a:ext cx="13027581" cy="570905"/>
          </a:xfrm>
          <a:prstGeom prst="rect">
            <a:avLst/>
          </a:prstGeom>
          <a:solidFill>
            <a:srgbClr val="FFFFFF">
              <a:alpha val="4000"/>
            </a:srgbClr>
          </a:solidFill>
          <a:ln/>
        </p:spPr>
        <p:txBody>
          <a:bodyPr/>
          <a:lstStyle/>
          <a:p>
            <a:endParaRPr lang="en-US"/>
          </a:p>
        </p:txBody>
      </p:sp>
      <p:sp>
        <p:nvSpPr>
          <p:cNvPr id="14" name="Text 12"/>
          <p:cNvSpPr/>
          <p:nvPr/>
        </p:nvSpPr>
        <p:spPr>
          <a:xfrm>
            <a:off x="999887" y="4020264"/>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3C3939"/>
                </a:solidFill>
                <a:latin typeface="Roboto" pitchFamily="34" charset="0"/>
                <a:ea typeface="Roboto" pitchFamily="34" charset="-122"/>
                <a:cs typeface="Roboto" pitchFamily="34" charset="-120"/>
              </a:rPr>
              <a:t>Ordering</a:t>
            </a:r>
            <a:endParaRPr lang="en-US" sz="1550" dirty="0"/>
          </a:p>
        </p:txBody>
      </p:sp>
      <p:sp>
        <p:nvSpPr>
          <p:cNvPr id="15" name="Text 13"/>
          <p:cNvSpPr/>
          <p:nvPr/>
        </p:nvSpPr>
        <p:spPr>
          <a:xfrm>
            <a:off x="3609142" y="4020264"/>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Packets may arrive out of order</a:t>
            </a:r>
            <a:endParaRPr lang="en-US" sz="1550" dirty="0"/>
          </a:p>
        </p:txBody>
      </p:sp>
      <p:sp>
        <p:nvSpPr>
          <p:cNvPr id="16" name="Text 14"/>
          <p:cNvSpPr/>
          <p:nvPr/>
        </p:nvSpPr>
        <p:spPr>
          <a:xfrm>
            <a:off x="8820150" y="4020264"/>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Maintains packet order</a:t>
            </a:r>
            <a:endParaRPr lang="en-US" sz="1550" dirty="0"/>
          </a:p>
        </p:txBody>
      </p:sp>
      <p:sp>
        <p:nvSpPr>
          <p:cNvPr id="17" name="Shape 15"/>
          <p:cNvSpPr/>
          <p:nvPr/>
        </p:nvSpPr>
        <p:spPr>
          <a:xfrm>
            <a:off x="801410" y="4464487"/>
            <a:ext cx="13027581" cy="888444"/>
          </a:xfrm>
          <a:prstGeom prst="rect">
            <a:avLst/>
          </a:prstGeom>
          <a:solidFill>
            <a:srgbClr val="000000">
              <a:alpha val="4000"/>
            </a:srgbClr>
          </a:solidFill>
          <a:ln/>
        </p:spPr>
        <p:txBody>
          <a:bodyPr/>
          <a:lstStyle/>
          <a:p>
            <a:endParaRPr lang="en-US"/>
          </a:p>
        </p:txBody>
      </p:sp>
      <p:sp>
        <p:nvSpPr>
          <p:cNvPr id="18" name="Text 16"/>
          <p:cNvSpPr/>
          <p:nvPr/>
        </p:nvSpPr>
        <p:spPr>
          <a:xfrm>
            <a:off x="999887" y="4591169"/>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3C3939"/>
                </a:solidFill>
                <a:latin typeface="Roboto" pitchFamily="34" charset="0"/>
                <a:ea typeface="Roboto" pitchFamily="34" charset="-122"/>
                <a:cs typeface="Roboto" pitchFamily="34" charset="-120"/>
              </a:rPr>
              <a:t>Speed</a:t>
            </a:r>
            <a:endParaRPr lang="en-US" sz="1550" dirty="0"/>
          </a:p>
        </p:txBody>
      </p:sp>
      <p:sp>
        <p:nvSpPr>
          <p:cNvPr id="19" name="Text 17"/>
          <p:cNvSpPr/>
          <p:nvPr/>
        </p:nvSpPr>
        <p:spPr>
          <a:xfrm>
            <a:off x="3609142" y="4591169"/>
            <a:ext cx="4806672"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Faster due to minimal overhead and no retransmissions</a:t>
            </a:r>
            <a:endParaRPr lang="en-US" sz="1550" dirty="0"/>
          </a:p>
        </p:txBody>
      </p:sp>
      <p:sp>
        <p:nvSpPr>
          <p:cNvPr id="20" name="Text 18"/>
          <p:cNvSpPr/>
          <p:nvPr/>
        </p:nvSpPr>
        <p:spPr>
          <a:xfrm>
            <a:off x="8820150" y="4591169"/>
            <a:ext cx="4810482"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Slower due to handshake, acknowledgments, and retransmissions</a:t>
            </a:r>
            <a:endParaRPr lang="en-US" sz="1550" dirty="0"/>
          </a:p>
        </p:txBody>
      </p:sp>
      <p:sp>
        <p:nvSpPr>
          <p:cNvPr id="21" name="Shape 19"/>
          <p:cNvSpPr/>
          <p:nvPr/>
        </p:nvSpPr>
        <p:spPr>
          <a:xfrm>
            <a:off x="801410" y="5352931"/>
            <a:ext cx="13027581" cy="570905"/>
          </a:xfrm>
          <a:prstGeom prst="rect">
            <a:avLst/>
          </a:prstGeom>
          <a:solidFill>
            <a:srgbClr val="FFFFFF">
              <a:alpha val="4000"/>
            </a:srgbClr>
          </a:solidFill>
          <a:ln/>
        </p:spPr>
        <p:txBody>
          <a:bodyPr/>
          <a:lstStyle/>
          <a:p>
            <a:endParaRPr lang="en-US"/>
          </a:p>
        </p:txBody>
      </p:sp>
      <p:sp>
        <p:nvSpPr>
          <p:cNvPr id="22" name="Text 20"/>
          <p:cNvSpPr/>
          <p:nvPr/>
        </p:nvSpPr>
        <p:spPr>
          <a:xfrm>
            <a:off x="999887" y="5479613"/>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3C3939"/>
                </a:solidFill>
                <a:latin typeface="Roboto" pitchFamily="34" charset="0"/>
                <a:ea typeface="Roboto" pitchFamily="34" charset="-122"/>
                <a:cs typeface="Roboto" pitchFamily="34" charset="-120"/>
              </a:rPr>
              <a:t>Congestion Control</a:t>
            </a:r>
            <a:endParaRPr lang="en-US" sz="1550" dirty="0"/>
          </a:p>
        </p:txBody>
      </p:sp>
      <p:sp>
        <p:nvSpPr>
          <p:cNvPr id="23" name="Text 21"/>
          <p:cNvSpPr/>
          <p:nvPr/>
        </p:nvSpPr>
        <p:spPr>
          <a:xfrm>
            <a:off x="3609142" y="5479613"/>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None (can overwhelm networks)</a:t>
            </a:r>
            <a:endParaRPr lang="en-US" sz="1550" dirty="0"/>
          </a:p>
        </p:txBody>
      </p:sp>
      <p:sp>
        <p:nvSpPr>
          <p:cNvPr id="24" name="Text 22"/>
          <p:cNvSpPr/>
          <p:nvPr/>
        </p:nvSpPr>
        <p:spPr>
          <a:xfrm>
            <a:off x="8820150" y="5479613"/>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Includes congestion control mechanisms</a:t>
            </a:r>
            <a:endParaRPr lang="en-US" sz="1550" dirty="0"/>
          </a:p>
        </p:txBody>
      </p:sp>
      <p:sp>
        <p:nvSpPr>
          <p:cNvPr id="25" name="Shape 23"/>
          <p:cNvSpPr/>
          <p:nvPr/>
        </p:nvSpPr>
        <p:spPr>
          <a:xfrm>
            <a:off x="801410" y="5923836"/>
            <a:ext cx="13027581" cy="570905"/>
          </a:xfrm>
          <a:prstGeom prst="rect">
            <a:avLst/>
          </a:prstGeom>
          <a:solidFill>
            <a:srgbClr val="000000">
              <a:alpha val="4000"/>
            </a:srgbClr>
          </a:solidFill>
          <a:ln/>
        </p:spPr>
        <p:txBody>
          <a:bodyPr/>
          <a:lstStyle/>
          <a:p>
            <a:endParaRPr lang="en-US"/>
          </a:p>
        </p:txBody>
      </p:sp>
      <p:sp>
        <p:nvSpPr>
          <p:cNvPr id="26" name="Text 24"/>
          <p:cNvSpPr/>
          <p:nvPr/>
        </p:nvSpPr>
        <p:spPr>
          <a:xfrm>
            <a:off x="999887" y="6050518"/>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3C3939"/>
                </a:solidFill>
                <a:latin typeface="Roboto" pitchFamily="34" charset="0"/>
                <a:ea typeface="Roboto" pitchFamily="34" charset="-122"/>
                <a:cs typeface="Roboto" pitchFamily="34" charset="-120"/>
              </a:rPr>
              <a:t>Use Cases</a:t>
            </a:r>
            <a:endParaRPr lang="en-US" sz="1550" dirty="0"/>
          </a:p>
        </p:txBody>
      </p:sp>
      <p:sp>
        <p:nvSpPr>
          <p:cNvPr id="27" name="Text 25"/>
          <p:cNvSpPr/>
          <p:nvPr/>
        </p:nvSpPr>
        <p:spPr>
          <a:xfrm>
            <a:off x="3609142" y="6050518"/>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VoIP, streaming, gaming, DNS</a:t>
            </a:r>
            <a:endParaRPr lang="en-US" sz="1550" dirty="0"/>
          </a:p>
        </p:txBody>
      </p:sp>
      <p:sp>
        <p:nvSpPr>
          <p:cNvPr id="28" name="Text 26"/>
          <p:cNvSpPr/>
          <p:nvPr/>
        </p:nvSpPr>
        <p:spPr>
          <a:xfrm>
            <a:off x="8820150" y="6050518"/>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Web browsing, email, file transfer</a:t>
            </a:r>
            <a:endParaRPr lang="en-US" sz="1550" dirty="0"/>
          </a:p>
        </p:txBody>
      </p:sp>
      <p:sp>
        <p:nvSpPr>
          <p:cNvPr id="29" name="Text 27"/>
          <p:cNvSpPr/>
          <p:nvPr/>
        </p:nvSpPr>
        <p:spPr>
          <a:xfrm>
            <a:off x="793790" y="672560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This comparison underscores that the choice between UDP and TCP depends entirely on the application's specific requirements regarding reliability, speed, and data integrity.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8772" y="448032"/>
            <a:ext cx="7315200" cy="506849"/>
          </a:xfrm>
          <a:prstGeom prst="rect">
            <a:avLst/>
          </a:prstGeom>
          <a:noFill/>
          <a:ln/>
        </p:spPr>
        <p:txBody>
          <a:bodyPr wrap="none" lIns="0" tIns="0" rIns="0" bIns="0" rtlCol="0" anchor="t"/>
          <a:lstStyle/>
          <a:p>
            <a:pPr marL="0" indent="0" algn="l">
              <a:lnSpc>
                <a:spcPts val="3950"/>
              </a:lnSpc>
              <a:buNone/>
            </a:pPr>
            <a:r>
              <a:rPr lang="en-US" sz="3150" dirty="0">
                <a:solidFill>
                  <a:srgbClr val="1B1B27"/>
                </a:solidFill>
                <a:latin typeface="Raleway" pitchFamily="34" charset="0"/>
                <a:ea typeface="Raleway" pitchFamily="34" charset="-122"/>
                <a:cs typeface="Raleway" pitchFamily="34" charset="-120"/>
              </a:rPr>
              <a:t>Advantages and Disadvantages of UDP</a:t>
            </a:r>
            <a:endParaRPr lang="en-US" sz="3150" dirty="0"/>
          </a:p>
        </p:txBody>
      </p:sp>
      <p:sp>
        <p:nvSpPr>
          <p:cNvPr id="3" name="Text 1"/>
          <p:cNvSpPr/>
          <p:nvPr/>
        </p:nvSpPr>
        <p:spPr>
          <a:xfrm>
            <a:off x="648772" y="1279208"/>
            <a:ext cx="13332857" cy="259437"/>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UDP's design, favoring speed over reliability, presents a unique set of benefits and drawbacks. Understanding these helps in determining its appropriate use.</a:t>
            </a:r>
            <a:endParaRPr lang="en-US" sz="1250" dirty="0"/>
          </a:p>
        </p:txBody>
      </p:sp>
      <p:sp>
        <p:nvSpPr>
          <p:cNvPr id="4" name="Text 2"/>
          <p:cNvSpPr/>
          <p:nvPr/>
        </p:nvSpPr>
        <p:spPr>
          <a:xfrm>
            <a:off x="648772" y="1883212"/>
            <a:ext cx="2432804" cy="303967"/>
          </a:xfrm>
          <a:prstGeom prst="rect">
            <a:avLst/>
          </a:prstGeom>
          <a:noFill/>
          <a:ln/>
        </p:spPr>
        <p:txBody>
          <a:bodyPr wrap="none" lIns="0" tIns="0" rIns="0" bIns="0" rtlCol="0" anchor="t"/>
          <a:lstStyle/>
          <a:p>
            <a:pPr marL="0" indent="0" algn="l">
              <a:lnSpc>
                <a:spcPts val="2350"/>
              </a:lnSpc>
              <a:buNone/>
            </a:pPr>
            <a:r>
              <a:rPr lang="en-US" sz="1900" dirty="0">
                <a:solidFill>
                  <a:srgbClr val="1B1B27"/>
                </a:solidFill>
                <a:latin typeface="Raleway" pitchFamily="34" charset="0"/>
                <a:ea typeface="Raleway" pitchFamily="34" charset="-122"/>
                <a:cs typeface="Raleway" pitchFamily="34" charset="-120"/>
              </a:rPr>
              <a:t>Advantages</a:t>
            </a:r>
            <a:endParaRPr lang="en-US" sz="19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613" y="2374523"/>
            <a:ext cx="243245" cy="243245"/>
          </a:xfrm>
          <a:prstGeom prst="rect">
            <a:avLst/>
          </a:prstGeom>
        </p:spPr>
      </p:pic>
      <p:sp>
        <p:nvSpPr>
          <p:cNvPr id="6" name="Text 3"/>
          <p:cNvSpPr/>
          <p:nvPr/>
        </p:nvSpPr>
        <p:spPr>
          <a:xfrm>
            <a:off x="1175861" y="2369582"/>
            <a:ext cx="2347317"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Low Latency &amp; Overhead</a:t>
            </a:r>
            <a:endParaRPr lang="en-US" sz="1550" dirty="0"/>
          </a:p>
        </p:txBody>
      </p:sp>
      <p:sp>
        <p:nvSpPr>
          <p:cNvPr id="7" name="Text 4"/>
          <p:cNvSpPr/>
          <p:nvPr/>
        </p:nvSpPr>
        <p:spPr>
          <a:xfrm>
            <a:off x="1175861" y="2785110"/>
            <a:ext cx="5941576" cy="778312"/>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Its connectionless nature means no time is spent establishing or tearing down connections, resulting in very low communication latency and minimal protocol overhead. The header is only 8 bytes long.</a:t>
            </a:r>
            <a:endParaRPr lang="en-US" sz="12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613" y="3892689"/>
            <a:ext cx="243245" cy="243245"/>
          </a:xfrm>
          <a:prstGeom prst="rect">
            <a:avLst/>
          </a:prstGeom>
        </p:spPr>
      </p:pic>
      <p:sp>
        <p:nvSpPr>
          <p:cNvPr id="9" name="Text 5"/>
          <p:cNvSpPr/>
          <p:nvPr/>
        </p:nvSpPr>
        <p:spPr>
          <a:xfrm>
            <a:off x="1175861" y="3887748"/>
            <a:ext cx="2352199"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Simple &amp; Fast Processing</a:t>
            </a:r>
            <a:endParaRPr lang="en-US" sz="1550" dirty="0"/>
          </a:p>
        </p:txBody>
      </p:sp>
      <p:sp>
        <p:nvSpPr>
          <p:cNvPr id="10" name="Text 6"/>
          <p:cNvSpPr/>
          <p:nvPr/>
        </p:nvSpPr>
        <p:spPr>
          <a:xfrm>
            <a:off x="1175861" y="4303276"/>
            <a:ext cx="5941576" cy="518874"/>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With fewer features to manage (like retransmissions or flow control), UDP packets can be processed very quickly by network devices.</a:t>
            </a:r>
            <a:endParaRPr lang="en-US" sz="12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613" y="5151418"/>
            <a:ext cx="243245" cy="243245"/>
          </a:xfrm>
          <a:prstGeom prst="rect">
            <a:avLst/>
          </a:prstGeom>
        </p:spPr>
      </p:pic>
      <p:sp>
        <p:nvSpPr>
          <p:cNvPr id="12" name="Text 7"/>
          <p:cNvSpPr/>
          <p:nvPr/>
        </p:nvSpPr>
        <p:spPr>
          <a:xfrm>
            <a:off x="1175861" y="5146477"/>
            <a:ext cx="2843332"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Multicast &amp; Broadcast Support</a:t>
            </a:r>
            <a:endParaRPr lang="en-US" sz="1550" dirty="0"/>
          </a:p>
        </p:txBody>
      </p:sp>
      <p:sp>
        <p:nvSpPr>
          <p:cNvPr id="13" name="Text 8"/>
          <p:cNvSpPr/>
          <p:nvPr/>
        </p:nvSpPr>
        <p:spPr>
          <a:xfrm>
            <a:off x="1175861" y="5562005"/>
            <a:ext cx="5941576" cy="778312"/>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UDP inherently supports sending data to multiple destinations simultaneously (multicast) or to all devices on a network (broadcast), which is not natively supported by TCP.</a:t>
            </a:r>
            <a:endParaRPr lang="en-US" sz="1250" dirty="0"/>
          </a:p>
        </p:txBody>
      </p:sp>
      <p:pic>
        <p:nvPicPr>
          <p:cNvPr id="14"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613" y="6669584"/>
            <a:ext cx="243245" cy="243245"/>
          </a:xfrm>
          <a:prstGeom prst="rect">
            <a:avLst/>
          </a:prstGeom>
        </p:spPr>
      </p:pic>
      <p:sp>
        <p:nvSpPr>
          <p:cNvPr id="15" name="Text 9"/>
          <p:cNvSpPr/>
          <p:nvPr/>
        </p:nvSpPr>
        <p:spPr>
          <a:xfrm>
            <a:off x="1175861" y="6664643"/>
            <a:ext cx="2921318"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Ideal for Real-time Applications</a:t>
            </a:r>
            <a:endParaRPr lang="en-US" sz="1550" dirty="0"/>
          </a:p>
        </p:txBody>
      </p:sp>
      <p:sp>
        <p:nvSpPr>
          <p:cNvPr id="16" name="Text 10"/>
          <p:cNvSpPr/>
          <p:nvPr/>
        </p:nvSpPr>
        <p:spPr>
          <a:xfrm>
            <a:off x="1175861" y="7080171"/>
            <a:ext cx="5941576" cy="518874"/>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Applications like Voice over IP (VoIP), video streaming, and online gaming can tolerate some packet loss for the sake of maintaining continuous, real-time flow.</a:t>
            </a:r>
            <a:endParaRPr lang="en-US" sz="1250" dirty="0"/>
          </a:p>
        </p:txBody>
      </p:sp>
      <p:sp>
        <p:nvSpPr>
          <p:cNvPr id="17" name="Text 11"/>
          <p:cNvSpPr/>
          <p:nvPr/>
        </p:nvSpPr>
        <p:spPr>
          <a:xfrm>
            <a:off x="7520583" y="1883212"/>
            <a:ext cx="2432804" cy="303967"/>
          </a:xfrm>
          <a:prstGeom prst="rect">
            <a:avLst/>
          </a:prstGeom>
          <a:noFill/>
          <a:ln/>
        </p:spPr>
        <p:txBody>
          <a:bodyPr wrap="none" lIns="0" tIns="0" rIns="0" bIns="0" rtlCol="0" anchor="t"/>
          <a:lstStyle/>
          <a:p>
            <a:pPr marL="0" indent="0" algn="l">
              <a:lnSpc>
                <a:spcPts val="2350"/>
              </a:lnSpc>
              <a:buNone/>
            </a:pPr>
            <a:r>
              <a:rPr lang="en-US" sz="1900" dirty="0">
                <a:solidFill>
                  <a:srgbClr val="1B1B27"/>
                </a:solidFill>
                <a:latin typeface="Raleway" pitchFamily="34" charset="0"/>
                <a:ea typeface="Raleway" pitchFamily="34" charset="-122"/>
                <a:cs typeface="Raleway" pitchFamily="34" charset="-120"/>
              </a:rPr>
              <a:t>Disadvantages</a:t>
            </a:r>
            <a:endParaRPr lang="en-US" sz="1900" dirty="0"/>
          </a:p>
        </p:txBody>
      </p:sp>
      <p:sp>
        <p:nvSpPr>
          <p:cNvPr id="18" name="Shape 12"/>
          <p:cNvSpPr/>
          <p:nvPr/>
        </p:nvSpPr>
        <p:spPr>
          <a:xfrm>
            <a:off x="7520583" y="2455724"/>
            <a:ext cx="81082" cy="81082"/>
          </a:xfrm>
          <a:prstGeom prst="roundRect">
            <a:avLst>
              <a:gd name="adj" fmla="val 563874"/>
            </a:avLst>
          </a:prstGeom>
          <a:solidFill>
            <a:srgbClr val="1B1B27"/>
          </a:solidFill>
          <a:ln/>
        </p:spPr>
        <p:txBody>
          <a:bodyPr/>
          <a:lstStyle/>
          <a:p>
            <a:endParaRPr lang="en-US"/>
          </a:p>
        </p:txBody>
      </p:sp>
      <p:sp>
        <p:nvSpPr>
          <p:cNvPr id="19" name="Text 13"/>
          <p:cNvSpPr/>
          <p:nvPr/>
        </p:nvSpPr>
        <p:spPr>
          <a:xfrm>
            <a:off x="7763828" y="2369582"/>
            <a:ext cx="2940368"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No Delivery or Order Guarantee</a:t>
            </a:r>
            <a:endParaRPr lang="en-US" sz="1550" dirty="0"/>
          </a:p>
        </p:txBody>
      </p:sp>
      <p:sp>
        <p:nvSpPr>
          <p:cNvPr id="20" name="Text 14"/>
          <p:cNvSpPr/>
          <p:nvPr/>
        </p:nvSpPr>
        <p:spPr>
          <a:xfrm>
            <a:off x="7763828" y="2785110"/>
            <a:ext cx="6225421" cy="518874"/>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Packets might be lost, duplicated, or arrive out of sequence, requiring the application layer to manage these issues if reliability is critical.</a:t>
            </a:r>
            <a:endParaRPr lang="en-US" sz="1250" dirty="0"/>
          </a:p>
        </p:txBody>
      </p:sp>
      <p:sp>
        <p:nvSpPr>
          <p:cNvPr id="21" name="Shape 15"/>
          <p:cNvSpPr/>
          <p:nvPr/>
        </p:nvSpPr>
        <p:spPr>
          <a:xfrm>
            <a:off x="7520583" y="3714452"/>
            <a:ext cx="81082" cy="81082"/>
          </a:xfrm>
          <a:prstGeom prst="roundRect">
            <a:avLst>
              <a:gd name="adj" fmla="val 563874"/>
            </a:avLst>
          </a:prstGeom>
          <a:solidFill>
            <a:srgbClr val="1B1B27"/>
          </a:solidFill>
          <a:ln/>
        </p:spPr>
        <p:txBody>
          <a:bodyPr/>
          <a:lstStyle/>
          <a:p>
            <a:endParaRPr lang="en-US"/>
          </a:p>
        </p:txBody>
      </p:sp>
      <p:sp>
        <p:nvSpPr>
          <p:cNvPr id="22" name="Text 16"/>
          <p:cNvSpPr/>
          <p:nvPr/>
        </p:nvSpPr>
        <p:spPr>
          <a:xfrm>
            <a:off x="7763828" y="3628311"/>
            <a:ext cx="3231237"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Lack of Congestion &amp; Flow Control</a:t>
            </a:r>
            <a:endParaRPr lang="en-US" sz="1550" dirty="0"/>
          </a:p>
        </p:txBody>
      </p:sp>
      <p:sp>
        <p:nvSpPr>
          <p:cNvPr id="23" name="Text 17"/>
          <p:cNvSpPr/>
          <p:nvPr/>
        </p:nvSpPr>
        <p:spPr>
          <a:xfrm>
            <a:off x="7763828" y="4043839"/>
            <a:ext cx="6225421" cy="518874"/>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UDP transmits data without regard for network congestion, which can potentially flood the network and worsen performance for all users.</a:t>
            </a:r>
            <a:endParaRPr lang="en-US" sz="1250" dirty="0"/>
          </a:p>
        </p:txBody>
      </p:sp>
      <p:sp>
        <p:nvSpPr>
          <p:cNvPr id="24" name="Shape 18"/>
          <p:cNvSpPr/>
          <p:nvPr/>
        </p:nvSpPr>
        <p:spPr>
          <a:xfrm>
            <a:off x="7520583" y="4973181"/>
            <a:ext cx="81082" cy="81082"/>
          </a:xfrm>
          <a:prstGeom prst="roundRect">
            <a:avLst>
              <a:gd name="adj" fmla="val 563874"/>
            </a:avLst>
          </a:prstGeom>
          <a:solidFill>
            <a:srgbClr val="1B1B27"/>
          </a:solidFill>
          <a:ln/>
        </p:spPr>
        <p:txBody>
          <a:bodyPr/>
          <a:lstStyle/>
          <a:p>
            <a:endParaRPr lang="en-US"/>
          </a:p>
        </p:txBody>
      </p:sp>
      <p:sp>
        <p:nvSpPr>
          <p:cNvPr id="25" name="Text 19"/>
          <p:cNvSpPr/>
          <p:nvPr/>
        </p:nvSpPr>
        <p:spPr>
          <a:xfrm>
            <a:off x="7763828" y="4887039"/>
            <a:ext cx="3018473"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Application-level Error Recovery</a:t>
            </a:r>
            <a:endParaRPr lang="en-US" sz="1550" dirty="0"/>
          </a:p>
        </p:txBody>
      </p:sp>
      <p:sp>
        <p:nvSpPr>
          <p:cNvPr id="26" name="Text 20"/>
          <p:cNvSpPr/>
          <p:nvPr/>
        </p:nvSpPr>
        <p:spPr>
          <a:xfrm>
            <a:off x="7763828" y="5302568"/>
            <a:ext cx="6225421" cy="518874"/>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Any necessary error detection and recovery mechanisms must be implemented at the application layer, adding complexity to software development.</a:t>
            </a:r>
            <a:endParaRPr lang="en-US" sz="1250" dirty="0"/>
          </a:p>
        </p:txBody>
      </p:sp>
      <p:sp>
        <p:nvSpPr>
          <p:cNvPr id="27" name="Shape 21"/>
          <p:cNvSpPr/>
          <p:nvPr/>
        </p:nvSpPr>
        <p:spPr>
          <a:xfrm>
            <a:off x="7520583" y="6231910"/>
            <a:ext cx="81082" cy="81082"/>
          </a:xfrm>
          <a:prstGeom prst="roundRect">
            <a:avLst>
              <a:gd name="adj" fmla="val 563874"/>
            </a:avLst>
          </a:prstGeom>
          <a:solidFill>
            <a:srgbClr val="1B1B27"/>
          </a:solidFill>
          <a:ln/>
        </p:spPr>
        <p:txBody>
          <a:bodyPr/>
          <a:lstStyle/>
          <a:p>
            <a:endParaRPr lang="en-US"/>
          </a:p>
        </p:txBody>
      </p:sp>
      <p:sp>
        <p:nvSpPr>
          <p:cNvPr id="28" name="Text 22"/>
          <p:cNvSpPr/>
          <p:nvPr/>
        </p:nvSpPr>
        <p:spPr>
          <a:xfrm>
            <a:off x="7763828" y="6145768"/>
            <a:ext cx="2727008" cy="253365"/>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Vulnerability to DDoS Attacks</a:t>
            </a:r>
            <a:endParaRPr lang="en-US" sz="1550" dirty="0"/>
          </a:p>
        </p:txBody>
      </p:sp>
      <p:sp>
        <p:nvSpPr>
          <p:cNvPr id="29" name="Text 23"/>
          <p:cNvSpPr/>
          <p:nvPr/>
        </p:nvSpPr>
        <p:spPr>
          <a:xfrm>
            <a:off x="7763828" y="6561296"/>
            <a:ext cx="6225421" cy="778312"/>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UDP's stateless nature can be exploited in UDP flood Distributed Denial of Service (DDoS) attacks, where attackers send a large volume of UDP packets to overwhelm a target server.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11624" y="670084"/>
            <a:ext cx="8467844" cy="477798"/>
          </a:xfrm>
          <a:prstGeom prst="rect">
            <a:avLst/>
          </a:prstGeom>
          <a:noFill/>
          <a:ln/>
        </p:spPr>
        <p:txBody>
          <a:bodyPr wrap="none" lIns="0" tIns="0" rIns="0" bIns="0" rtlCol="0" anchor="t"/>
          <a:lstStyle/>
          <a:p>
            <a:pPr marL="0" indent="0" algn="l">
              <a:lnSpc>
                <a:spcPts val="3750"/>
              </a:lnSpc>
              <a:buNone/>
            </a:pPr>
            <a:r>
              <a:rPr lang="en-US" sz="3000" dirty="0">
                <a:solidFill>
                  <a:srgbClr val="1B1B27"/>
                </a:solidFill>
                <a:latin typeface="Raleway" pitchFamily="34" charset="0"/>
                <a:ea typeface="Raleway" pitchFamily="34" charset="-122"/>
                <a:cs typeface="Raleway" pitchFamily="34" charset="-120"/>
              </a:rPr>
              <a:t>UDP Implementation Overview and Applications</a:t>
            </a:r>
            <a:endParaRPr lang="en-US" sz="3000" dirty="0"/>
          </a:p>
        </p:txBody>
      </p:sp>
      <p:sp>
        <p:nvSpPr>
          <p:cNvPr id="3" name="Text 1"/>
          <p:cNvSpPr/>
          <p:nvPr/>
        </p:nvSpPr>
        <p:spPr>
          <a:xfrm>
            <a:off x="611624" y="1453634"/>
            <a:ext cx="13407152" cy="244554"/>
          </a:xfrm>
          <a:prstGeom prst="rect">
            <a:avLst/>
          </a:prstGeom>
          <a:noFill/>
          <a:ln/>
        </p:spPr>
        <p:txBody>
          <a:bodyPr wrap="none" lIns="0" tIns="0" rIns="0" bIns="0" rtlCol="0" anchor="t"/>
          <a:lstStyle/>
          <a:p>
            <a:pPr marL="0" indent="0" algn="l">
              <a:lnSpc>
                <a:spcPts val="1900"/>
              </a:lnSpc>
              <a:buNone/>
            </a:pPr>
            <a:r>
              <a:rPr lang="en-US" sz="1200" dirty="0">
                <a:solidFill>
                  <a:srgbClr val="3C3939"/>
                </a:solidFill>
                <a:latin typeface="Roboto" pitchFamily="34" charset="0"/>
                <a:ea typeface="Roboto" pitchFamily="34" charset="-122"/>
                <a:cs typeface="Roboto" pitchFamily="34" charset="-120"/>
              </a:rPr>
              <a:t>Implementing UDP involves creating sockets and sending/receiving datagrams, leveraging its simplicity for specific use cases. The protocol's minimal header ensures efficiency.</a:t>
            </a:r>
            <a:endParaRPr lang="en-US" sz="1200" dirty="0"/>
          </a:p>
        </p:txBody>
      </p:sp>
      <p:sp>
        <p:nvSpPr>
          <p:cNvPr id="4" name="Shape 2"/>
          <p:cNvSpPr/>
          <p:nvPr/>
        </p:nvSpPr>
        <p:spPr>
          <a:xfrm>
            <a:off x="611624" y="1870115"/>
            <a:ext cx="6627138" cy="2401372"/>
          </a:xfrm>
          <a:prstGeom prst="roundRect">
            <a:avLst>
              <a:gd name="adj" fmla="val 4569"/>
            </a:avLst>
          </a:prstGeom>
          <a:solidFill>
            <a:srgbClr val="FFFFFF">
              <a:alpha val="95000"/>
            </a:srgbClr>
          </a:solidFill>
          <a:ln w="22860">
            <a:solidFill>
              <a:srgbClr val="C7C7D0"/>
            </a:solidFill>
            <a:prstDash val="solid"/>
          </a:ln>
        </p:spPr>
        <p:txBody>
          <a:bodyPr/>
          <a:lstStyle/>
          <a:p>
            <a:endParaRPr lang="en-US"/>
          </a:p>
        </p:txBody>
      </p:sp>
      <p:sp>
        <p:nvSpPr>
          <p:cNvPr id="5" name="Shape 3"/>
          <p:cNvSpPr/>
          <p:nvPr/>
        </p:nvSpPr>
        <p:spPr>
          <a:xfrm>
            <a:off x="588764" y="1870115"/>
            <a:ext cx="91440" cy="2401372"/>
          </a:xfrm>
          <a:prstGeom prst="roundRect">
            <a:avLst>
              <a:gd name="adj" fmla="val 70240"/>
            </a:avLst>
          </a:prstGeom>
          <a:solidFill>
            <a:srgbClr val="1B1B27"/>
          </a:solidFill>
          <a:ln/>
        </p:spPr>
        <p:txBody>
          <a:bodyPr/>
          <a:lstStyle/>
          <a:p>
            <a:endParaRPr lang="en-US"/>
          </a:p>
        </p:txBody>
      </p:sp>
      <p:sp>
        <p:nvSpPr>
          <p:cNvPr id="6" name="Text 4"/>
          <p:cNvSpPr/>
          <p:nvPr/>
        </p:nvSpPr>
        <p:spPr>
          <a:xfrm>
            <a:off x="855940" y="2045851"/>
            <a:ext cx="1959412" cy="238839"/>
          </a:xfrm>
          <a:prstGeom prst="rect">
            <a:avLst/>
          </a:prstGeom>
          <a:noFill/>
          <a:ln/>
        </p:spPr>
        <p:txBody>
          <a:bodyPr wrap="none" lIns="0" tIns="0" rIns="0" bIns="0" rtlCol="0" anchor="t"/>
          <a:lstStyle/>
          <a:p>
            <a:pPr marL="0" indent="0" algn="l">
              <a:lnSpc>
                <a:spcPts val="1850"/>
              </a:lnSpc>
              <a:buNone/>
            </a:pPr>
            <a:r>
              <a:rPr lang="en-US" sz="1500" dirty="0">
                <a:solidFill>
                  <a:srgbClr val="3C3939"/>
                </a:solidFill>
                <a:latin typeface="Raleway" pitchFamily="34" charset="0"/>
                <a:ea typeface="Raleway" pitchFamily="34" charset="-122"/>
                <a:cs typeface="Raleway" pitchFamily="34" charset="-120"/>
              </a:rPr>
              <a:t>UDP Header Structure</a:t>
            </a:r>
            <a:endParaRPr lang="en-US" sz="1500" dirty="0"/>
          </a:p>
        </p:txBody>
      </p:sp>
      <p:sp>
        <p:nvSpPr>
          <p:cNvPr id="7" name="Text 5"/>
          <p:cNvSpPr/>
          <p:nvPr/>
        </p:nvSpPr>
        <p:spPr>
          <a:xfrm>
            <a:off x="855940" y="2376368"/>
            <a:ext cx="6207085" cy="244554"/>
          </a:xfrm>
          <a:prstGeom prst="rect">
            <a:avLst/>
          </a:prstGeom>
          <a:noFill/>
          <a:ln/>
        </p:spPr>
        <p:txBody>
          <a:bodyPr wrap="none" lIns="0" tIns="0" rIns="0" bIns="0" rtlCol="0" anchor="t"/>
          <a:lstStyle/>
          <a:p>
            <a:pPr marL="0" indent="0" algn="l">
              <a:lnSpc>
                <a:spcPts val="1900"/>
              </a:lnSpc>
              <a:buNone/>
            </a:pPr>
            <a:r>
              <a:rPr lang="en-US" sz="1200" dirty="0">
                <a:solidFill>
                  <a:srgbClr val="3C3939"/>
                </a:solidFill>
                <a:latin typeface="Roboto" pitchFamily="34" charset="0"/>
                <a:ea typeface="Roboto" pitchFamily="34" charset="-122"/>
                <a:cs typeface="Roboto" pitchFamily="34" charset="-120"/>
              </a:rPr>
              <a:t>The UDP header is notably simple, comprising four fields, each 16 bits long (2 bytes):</a:t>
            </a:r>
            <a:endParaRPr lang="en-US" sz="1200" dirty="0"/>
          </a:p>
        </p:txBody>
      </p:sp>
      <p:sp>
        <p:nvSpPr>
          <p:cNvPr id="8" name="Text 6"/>
          <p:cNvSpPr/>
          <p:nvPr/>
        </p:nvSpPr>
        <p:spPr>
          <a:xfrm>
            <a:off x="855940" y="2712601"/>
            <a:ext cx="6207085" cy="244554"/>
          </a:xfrm>
          <a:prstGeom prst="rect">
            <a:avLst/>
          </a:prstGeom>
          <a:noFill/>
          <a:ln/>
        </p:spPr>
        <p:txBody>
          <a:bodyPr wrap="non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Source Port:</a:t>
            </a:r>
            <a:r>
              <a:rPr lang="en-US" sz="1200" dirty="0">
                <a:solidFill>
                  <a:srgbClr val="3C3939"/>
                </a:solidFill>
                <a:latin typeface="Roboto" pitchFamily="34" charset="0"/>
                <a:ea typeface="Roboto" pitchFamily="34" charset="-122"/>
                <a:cs typeface="Roboto" pitchFamily="34" charset="-120"/>
              </a:rPr>
              <a:t> Identifies the sender's port number.</a:t>
            </a:r>
            <a:endParaRPr lang="en-US" sz="1200" dirty="0"/>
          </a:p>
        </p:txBody>
      </p:sp>
      <p:sp>
        <p:nvSpPr>
          <p:cNvPr id="9" name="Text 7"/>
          <p:cNvSpPr/>
          <p:nvPr/>
        </p:nvSpPr>
        <p:spPr>
          <a:xfrm>
            <a:off x="855940" y="3010614"/>
            <a:ext cx="6207085" cy="489109"/>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Destination Port:</a:t>
            </a:r>
            <a:r>
              <a:rPr lang="en-US" sz="1200" dirty="0">
                <a:solidFill>
                  <a:srgbClr val="3C3939"/>
                </a:solidFill>
                <a:latin typeface="Roboto" pitchFamily="34" charset="0"/>
                <a:ea typeface="Roboto" pitchFamily="34" charset="-122"/>
                <a:cs typeface="Roboto" pitchFamily="34" charset="-120"/>
              </a:rPr>
              <a:t> Identifies the receiver's port number, directing data to the correct application.</a:t>
            </a:r>
            <a:endParaRPr lang="en-US" sz="1200" dirty="0"/>
          </a:p>
        </p:txBody>
      </p:sp>
      <p:sp>
        <p:nvSpPr>
          <p:cNvPr id="10" name="Text 8"/>
          <p:cNvSpPr/>
          <p:nvPr/>
        </p:nvSpPr>
        <p:spPr>
          <a:xfrm>
            <a:off x="855940" y="3553182"/>
            <a:ext cx="6207085" cy="244554"/>
          </a:xfrm>
          <a:prstGeom prst="rect">
            <a:avLst/>
          </a:prstGeom>
          <a:noFill/>
          <a:ln/>
        </p:spPr>
        <p:txBody>
          <a:bodyPr wrap="non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Length:</a:t>
            </a:r>
            <a:r>
              <a:rPr lang="en-US" sz="1200" dirty="0">
                <a:solidFill>
                  <a:srgbClr val="3C3939"/>
                </a:solidFill>
                <a:latin typeface="Roboto" pitchFamily="34" charset="0"/>
                <a:ea typeface="Roboto" pitchFamily="34" charset="-122"/>
                <a:cs typeface="Roboto" pitchFamily="34" charset="-120"/>
              </a:rPr>
              <a:t> Specifies the length of the UDP header and data in bytes.</a:t>
            </a:r>
            <a:endParaRPr lang="en-US" sz="1200" dirty="0"/>
          </a:p>
        </p:txBody>
      </p:sp>
      <p:sp>
        <p:nvSpPr>
          <p:cNvPr id="11" name="Text 9"/>
          <p:cNvSpPr/>
          <p:nvPr/>
        </p:nvSpPr>
        <p:spPr>
          <a:xfrm>
            <a:off x="855940" y="3851196"/>
            <a:ext cx="6207085" cy="244554"/>
          </a:xfrm>
          <a:prstGeom prst="rect">
            <a:avLst/>
          </a:prstGeom>
          <a:noFill/>
          <a:ln/>
        </p:spPr>
        <p:txBody>
          <a:bodyPr wrap="non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Checksum:</a:t>
            </a:r>
            <a:r>
              <a:rPr lang="en-US" sz="1200" dirty="0">
                <a:solidFill>
                  <a:srgbClr val="3C3939"/>
                </a:solidFill>
                <a:latin typeface="Roboto" pitchFamily="34" charset="0"/>
                <a:ea typeface="Roboto" pitchFamily="34" charset="-122"/>
                <a:cs typeface="Roboto" pitchFamily="34" charset="-120"/>
              </a:rPr>
              <a:t> An optional field used for error detection over the header and data.</a:t>
            </a:r>
            <a:endParaRPr lang="en-US" sz="1200" dirty="0"/>
          </a:p>
        </p:txBody>
      </p:sp>
      <p:sp>
        <p:nvSpPr>
          <p:cNvPr id="12" name="Shape 10"/>
          <p:cNvSpPr/>
          <p:nvPr/>
        </p:nvSpPr>
        <p:spPr>
          <a:xfrm>
            <a:off x="7391638" y="1870115"/>
            <a:ext cx="6627138" cy="2401372"/>
          </a:xfrm>
          <a:prstGeom prst="roundRect">
            <a:avLst>
              <a:gd name="adj" fmla="val 4569"/>
            </a:avLst>
          </a:prstGeom>
          <a:solidFill>
            <a:srgbClr val="FFFFFF">
              <a:alpha val="95000"/>
            </a:srgbClr>
          </a:solidFill>
          <a:ln w="22860">
            <a:solidFill>
              <a:srgbClr val="C7C7D0"/>
            </a:solidFill>
            <a:prstDash val="solid"/>
          </a:ln>
        </p:spPr>
        <p:txBody>
          <a:bodyPr/>
          <a:lstStyle/>
          <a:p>
            <a:endParaRPr lang="en-US"/>
          </a:p>
        </p:txBody>
      </p:sp>
      <p:sp>
        <p:nvSpPr>
          <p:cNvPr id="13" name="Shape 11"/>
          <p:cNvSpPr/>
          <p:nvPr/>
        </p:nvSpPr>
        <p:spPr>
          <a:xfrm>
            <a:off x="7368778" y="1870115"/>
            <a:ext cx="91440" cy="2401372"/>
          </a:xfrm>
          <a:prstGeom prst="roundRect">
            <a:avLst>
              <a:gd name="adj" fmla="val 70240"/>
            </a:avLst>
          </a:prstGeom>
          <a:solidFill>
            <a:srgbClr val="1B1B27"/>
          </a:solidFill>
          <a:ln/>
        </p:spPr>
        <p:txBody>
          <a:bodyPr/>
          <a:lstStyle/>
          <a:p>
            <a:endParaRPr lang="en-US"/>
          </a:p>
        </p:txBody>
      </p:sp>
      <p:sp>
        <p:nvSpPr>
          <p:cNvPr id="14" name="Text 12"/>
          <p:cNvSpPr/>
          <p:nvPr/>
        </p:nvSpPr>
        <p:spPr>
          <a:xfrm>
            <a:off x="7635954" y="2045851"/>
            <a:ext cx="2911793" cy="238839"/>
          </a:xfrm>
          <a:prstGeom prst="rect">
            <a:avLst/>
          </a:prstGeom>
          <a:noFill/>
          <a:ln/>
        </p:spPr>
        <p:txBody>
          <a:bodyPr wrap="none" lIns="0" tIns="0" rIns="0" bIns="0" rtlCol="0" anchor="t"/>
          <a:lstStyle/>
          <a:p>
            <a:pPr marL="0" indent="0" algn="l">
              <a:lnSpc>
                <a:spcPts val="1850"/>
              </a:lnSpc>
              <a:buNone/>
            </a:pPr>
            <a:r>
              <a:rPr lang="en-US" sz="1500" dirty="0">
                <a:solidFill>
                  <a:srgbClr val="3C3939"/>
                </a:solidFill>
                <a:latin typeface="Raleway" pitchFamily="34" charset="0"/>
                <a:ea typeface="Raleway" pitchFamily="34" charset="-122"/>
                <a:cs typeface="Raleway" pitchFamily="34" charset="-120"/>
              </a:rPr>
              <a:t>Port Numbers for Demultiplexing</a:t>
            </a:r>
            <a:endParaRPr lang="en-US" sz="1500" dirty="0"/>
          </a:p>
        </p:txBody>
      </p:sp>
      <p:sp>
        <p:nvSpPr>
          <p:cNvPr id="15" name="Text 13"/>
          <p:cNvSpPr/>
          <p:nvPr/>
        </p:nvSpPr>
        <p:spPr>
          <a:xfrm>
            <a:off x="7635954" y="2376368"/>
            <a:ext cx="6207085" cy="489109"/>
          </a:xfrm>
          <a:prstGeom prst="rect">
            <a:avLst/>
          </a:prstGeom>
          <a:noFill/>
          <a:ln/>
        </p:spPr>
        <p:txBody>
          <a:bodyPr wrap="square" lIns="0" tIns="0" rIns="0" bIns="0" rtlCol="0" anchor="t"/>
          <a:lstStyle/>
          <a:p>
            <a:pPr marL="0" indent="0" algn="l">
              <a:lnSpc>
                <a:spcPts val="1900"/>
              </a:lnSpc>
              <a:buNone/>
            </a:pPr>
            <a:r>
              <a:rPr lang="en-US" sz="1200" dirty="0">
                <a:solidFill>
                  <a:srgbClr val="3C3939"/>
                </a:solidFill>
                <a:latin typeface="Roboto" pitchFamily="34" charset="0"/>
                <a:ea typeface="Roboto" pitchFamily="34" charset="-122"/>
                <a:cs typeface="Roboto" pitchFamily="34" charset="-120"/>
              </a:rPr>
              <a:t>Port numbers are crucial for directing incoming UDP datagrams to the correct application process running on a host, enabling multiple applications to share a single IP address.</a:t>
            </a:r>
            <a:endParaRPr lang="en-US" sz="1200" dirty="0"/>
          </a:p>
        </p:txBody>
      </p:sp>
      <p:sp>
        <p:nvSpPr>
          <p:cNvPr id="16" name="Shape 14"/>
          <p:cNvSpPr/>
          <p:nvPr/>
        </p:nvSpPr>
        <p:spPr>
          <a:xfrm>
            <a:off x="611624" y="4424363"/>
            <a:ext cx="6627138" cy="3135035"/>
          </a:xfrm>
          <a:prstGeom prst="roundRect">
            <a:avLst>
              <a:gd name="adj" fmla="val 3500"/>
            </a:avLst>
          </a:prstGeom>
          <a:solidFill>
            <a:srgbClr val="FFFFFF">
              <a:alpha val="95000"/>
            </a:srgbClr>
          </a:solidFill>
          <a:ln w="22860">
            <a:solidFill>
              <a:srgbClr val="C7C7D0"/>
            </a:solidFill>
            <a:prstDash val="solid"/>
          </a:ln>
        </p:spPr>
        <p:txBody>
          <a:bodyPr/>
          <a:lstStyle/>
          <a:p>
            <a:endParaRPr lang="en-US"/>
          </a:p>
        </p:txBody>
      </p:sp>
      <p:sp>
        <p:nvSpPr>
          <p:cNvPr id="17" name="Shape 15"/>
          <p:cNvSpPr/>
          <p:nvPr/>
        </p:nvSpPr>
        <p:spPr>
          <a:xfrm>
            <a:off x="588764" y="4424363"/>
            <a:ext cx="91440" cy="3135035"/>
          </a:xfrm>
          <a:prstGeom prst="roundRect">
            <a:avLst>
              <a:gd name="adj" fmla="val 70240"/>
            </a:avLst>
          </a:prstGeom>
          <a:solidFill>
            <a:srgbClr val="1B1B27"/>
          </a:solidFill>
          <a:ln/>
        </p:spPr>
        <p:txBody>
          <a:bodyPr/>
          <a:lstStyle/>
          <a:p>
            <a:endParaRPr lang="en-US"/>
          </a:p>
        </p:txBody>
      </p:sp>
      <p:sp>
        <p:nvSpPr>
          <p:cNvPr id="18" name="Text 16"/>
          <p:cNvSpPr/>
          <p:nvPr/>
        </p:nvSpPr>
        <p:spPr>
          <a:xfrm>
            <a:off x="855940" y="4600099"/>
            <a:ext cx="1954054" cy="238839"/>
          </a:xfrm>
          <a:prstGeom prst="rect">
            <a:avLst/>
          </a:prstGeom>
          <a:noFill/>
          <a:ln/>
        </p:spPr>
        <p:txBody>
          <a:bodyPr wrap="none" lIns="0" tIns="0" rIns="0" bIns="0" rtlCol="0" anchor="t"/>
          <a:lstStyle/>
          <a:p>
            <a:pPr marL="0" indent="0" algn="l">
              <a:lnSpc>
                <a:spcPts val="1850"/>
              </a:lnSpc>
              <a:buNone/>
            </a:pPr>
            <a:r>
              <a:rPr lang="en-US" sz="1500" dirty="0">
                <a:solidFill>
                  <a:srgbClr val="3C3939"/>
                </a:solidFill>
                <a:latin typeface="Raleway" pitchFamily="34" charset="0"/>
                <a:ea typeface="Raleway" pitchFamily="34" charset="-122"/>
                <a:cs typeface="Raleway" pitchFamily="34" charset="-120"/>
              </a:rPr>
              <a:t>Common Applications</a:t>
            </a:r>
            <a:endParaRPr lang="en-US" sz="1500" dirty="0"/>
          </a:p>
        </p:txBody>
      </p:sp>
      <p:sp>
        <p:nvSpPr>
          <p:cNvPr id="19" name="Text 17"/>
          <p:cNvSpPr/>
          <p:nvPr/>
        </p:nvSpPr>
        <p:spPr>
          <a:xfrm>
            <a:off x="855940" y="4930616"/>
            <a:ext cx="6207085" cy="244554"/>
          </a:xfrm>
          <a:prstGeom prst="rect">
            <a:avLst/>
          </a:prstGeom>
          <a:noFill/>
          <a:ln/>
        </p:spPr>
        <p:txBody>
          <a:bodyPr wrap="none" lIns="0" tIns="0" rIns="0" bIns="0" rtlCol="0" anchor="t"/>
          <a:lstStyle/>
          <a:p>
            <a:pPr marL="0" indent="0" algn="l">
              <a:lnSpc>
                <a:spcPts val="1900"/>
              </a:lnSpc>
              <a:buNone/>
            </a:pPr>
            <a:r>
              <a:rPr lang="en-US" sz="1200" dirty="0">
                <a:solidFill>
                  <a:srgbClr val="3C3939"/>
                </a:solidFill>
                <a:latin typeface="Roboto" pitchFamily="34" charset="0"/>
                <a:ea typeface="Roboto" pitchFamily="34" charset="-122"/>
                <a:cs typeface="Roboto" pitchFamily="34" charset="-120"/>
              </a:rPr>
              <a:t>UDP's characteristics make it ideal for various applications:</a:t>
            </a:r>
            <a:endParaRPr lang="en-US" sz="1200" dirty="0"/>
          </a:p>
        </p:txBody>
      </p:sp>
      <p:sp>
        <p:nvSpPr>
          <p:cNvPr id="20" name="Text 18"/>
          <p:cNvSpPr/>
          <p:nvPr/>
        </p:nvSpPr>
        <p:spPr>
          <a:xfrm>
            <a:off x="855940" y="5266849"/>
            <a:ext cx="6207085" cy="489109"/>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DNS Queries:</a:t>
            </a:r>
            <a:r>
              <a:rPr lang="en-US" sz="1200" dirty="0">
                <a:solidFill>
                  <a:srgbClr val="3C3939"/>
                </a:solidFill>
                <a:latin typeface="Roboto" pitchFamily="34" charset="0"/>
                <a:ea typeface="Roboto" pitchFamily="34" charset="-122"/>
                <a:cs typeface="Roboto" pitchFamily="34" charset="-120"/>
              </a:rPr>
              <a:t> Its speed makes it perfect for quick, single-request/response transactions like Domain Name System lookups.</a:t>
            </a:r>
            <a:endParaRPr lang="en-US" sz="1200" dirty="0"/>
          </a:p>
        </p:txBody>
      </p:sp>
      <p:sp>
        <p:nvSpPr>
          <p:cNvPr id="21" name="Text 19"/>
          <p:cNvSpPr/>
          <p:nvPr/>
        </p:nvSpPr>
        <p:spPr>
          <a:xfrm>
            <a:off x="855940" y="5809417"/>
            <a:ext cx="6207085" cy="489109"/>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VoIP and Video Streaming:</a:t>
            </a:r>
            <a:r>
              <a:rPr lang="en-US" sz="1200" dirty="0">
                <a:solidFill>
                  <a:srgbClr val="3C3939"/>
                </a:solidFill>
                <a:latin typeface="Roboto" pitchFamily="34" charset="0"/>
                <a:ea typeface="Roboto" pitchFamily="34" charset="-122"/>
                <a:cs typeface="Roboto" pitchFamily="34" charset="-120"/>
              </a:rPr>
              <a:t> These applications prioritize real-time flow; occasional packet loss is less disruptive than delays caused by retransmissions.</a:t>
            </a:r>
            <a:endParaRPr lang="en-US" sz="1200" dirty="0"/>
          </a:p>
        </p:txBody>
      </p:sp>
      <p:sp>
        <p:nvSpPr>
          <p:cNvPr id="22" name="Text 20"/>
          <p:cNvSpPr/>
          <p:nvPr/>
        </p:nvSpPr>
        <p:spPr>
          <a:xfrm>
            <a:off x="855940" y="6351984"/>
            <a:ext cx="6207085" cy="489109"/>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DHCP (Dynamic Host Configuration Protocol):</a:t>
            </a:r>
            <a:r>
              <a:rPr lang="en-US" sz="1200" dirty="0">
                <a:solidFill>
                  <a:srgbClr val="3C3939"/>
                </a:solidFill>
                <a:latin typeface="Roboto" pitchFamily="34" charset="0"/>
                <a:ea typeface="Roboto" pitchFamily="34" charset="-122"/>
                <a:cs typeface="Roboto" pitchFamily="34" charset="-120"/>
              </a:rPr>
              <a:t> Used for assigning IP addresses, relying on UDP for its stateless and quick request/reply nature.</a:t>
            </a:r>
            <a:endParaRPr lang="en-US" sz="1200" dirty="0"/>
          </a:p>
        </p:txBody>
      </p:sp>
      <p:sp>
        <p:nvSpPr>
          <p:cNvPr id="23" name="Text 21"/>
          <p:cNvSpPr/>
          <p:nvPr/>
        </p:nvSpPr>
        <p:spPr>
          <a:xfrm>
            <a:off x="855940" y="6894552"/>
            <a:ext cx="6207085" cy="489109"/>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C3939"/>
                </a:solidFill>
                <a:latin typeface="Roboto" pitchFamily="34" charset="0"/>
                <a:ea typeface="Roboto" pitchFamily="34" charset="-122"/>
                <a:cs typeface="Roboto" pitchFamily="34" charset="-120"/>
              </a:rPr>
              <a:t>Online Gaming:</a:t>
            </a:r>
            <a:r>
              <a:rPr lang="en-US" sz="1200" dirty="0">
                <a:solidFill>
                  <a:srgbClr val="3C3939"/>
                </a:solidFill>
                <a:latin typeface="Roboto" pitchFamily="34" charset="0"/>
                <a:ea typeface="Roboto" pitchFamily="34" charset="-122"/>
                <a:cs typeface="Roboto" pitchFamily="34" charset="-120"/>
              </a:rPr>
              <a:t> Low latency is paramount for responsive gameplay, where a lost packet is often less detrimental than a delayed one.</a:t>
            </a:r>
            <a:endParaRPr lang="en-US" sz="1200" dirty="0"/>
          </a:p>
        </p:txBody>
      </p:sp>
      <p:sp>
        <p:nvSpPr>
          <p:cNvPr id="24" name="Shape 22"/>
          <p:cNvSpPr/>
          <p:nvPr/>
        </p:nvSpPr>
        <p:spPr>
          <a:xfrm>
            <a:off x="7391638" y="4424363"/>
            <a:ext cx="6627138" cy="3135035"/>
          </a:xfrm>
          <a:prstGeom prst="roundRect">
            <a:avLst>
              <a:gd name="adj" fmla="val 3500"/>
            </a:avLst>
          </a:prstGeom>
          <a:solidFill>
            <a:srgbClr val="FFFFFF">
              <a:alpha val="95000"/>
            </a:srgbClr>
          </a:solidFill>
          <a:ln w="22860">
            <a:solidFill>
              <a:srgbClr val="C7C7D0"/>
            </a:solidFill>
            <a:prstDash val="solid"/>
          </a:ln>
        </p:spPr>
        <p:txBody>
          <a:bodyPr/>
          <a:lstStyle/>
          <a:p>
            <a:endParaRPr lang="en-US"/>
          </a:p>
        </p:txBody>
      </p:sp>
      <p:sp>
        <p:nvSpPr>
          <p:cNvPr id="25" name="Shape 23"/>
          <p:cNvSpPr/>
          <p:nvPr/>
        </p:nvSpPr>
        <p:spPr>
          <a:xfrm>
            <a:off x="7368778" y="4424363"/>
            <a:ext cx="91440" cy="3135035"/>
          </a:xfrm>
          <a:prstGeom prst="roundRect">
            <a:avLst>
              <a:gd name="adj" fmla="val 70240"/>
            </a:avLst>
          </a:prstGeom>
          <a:solidFill>
            <a:srgbClr val="1B1B27"/>
          </a:solidFill>
          <a:ln/>
        </p:spPr>
        <p:txBody>
          <a:bodyPr/>
          <a:lstStyle/>
          <a:p>
            <a:endParaRPr lang="en-US"/>
          </a:p>
        </p:txBody>
      </p:sp>
      <p:sp>
        <p:nvSpPr>
          <p:cNvPr id="26" name="Text 24"/>
          <p:cNvSpPr/>
          <p:nvPr/>
        </p:nvSpPr>
        <p:spPr>
          <a:xfrm>
            <a:off x="7635954" y="4600099"/>
            <a:ext cx="1911429" cy="238839"/>
          </a:xfrm>
          <a:prstGeom prst="rect">
            <a:avLst/>
          </a:prstGeom>
          <a:noFill/>
          <a:ln/>
        </p:spPr>
        <p:txBody>
          <a:bodyPr wrap="none" lIns="0" tIns="0" rIns="0" bIns="0" rtlCol="0" anchor="t"/>
          <a:lstStyle/>
          <a:p>
            <a:pPr marL="0" indent="0" algn="l">
              <a:lnSpc>
                <a:spcPts val="1850"/>
              </a:lnSpc>
              <a:buNone/>
            </a:pPr>
            <a:r>
              <a:rPr lang="en-US" sz="1500" dirty="0">
                <a:solidFill>
                  <a:srgbClr val="3C3939"/>
                </a:solidFill>
                <a:latin typeface="Raleway" pitchFamily="34" charset="0"/>
                <a:ea typeface="Raleway" pitchFamily="34" charset="-122"/>
                <a:cs typeface="Raleway" pitchFamily="34" charset="-120"/>
              </a:rPr>
              <a:t>Socket Programming</a:t>
            </a:r>
            <a:endParaRPr lang="en-US" sz="1500" dirty="0"/>
          </a:p>
        </p:txBody>
      </p:sp>
      <p:sp>
        <p:nvSpPr>
          <p:cNvPr id="27" name="Text 25"/>
          <p:cNvSpPr/>
          <p:nvPr/>
        </p:nvSpPr>
        <p:spPr>
          <a:xfrm>
            <a:off x="7635954" y="4930616"/>
            <a:ext cx="6207085" cy="489109"/>
          </a:xfrm>
          <a:prstGeom prst="rect">
            <a:avLst/>
          </a:prstGeom>
          <a:noFill/>
          <a:ln/>
        </p:spPr>
        <p:txBody>
          <a:bodyPr wrap="square" lIns="0" tIns="0" rIns="0" bIns="0" rtlCol="0" anchor="t"/>
          <a:lstStyle/>
          <a:p>
            <a:pPr marL="0" indent="0" algn="l">
              <a:lnSpc>
                <a:spcPts val="1900"/>
              </a:lnSpc>
              <a:buNone/>
            </a:pPr>
            <a:r>
              <a:rPr lang="en-US" sz="1200" dirty="0">
                <a:solidFill>
                  <a:srgbClr val="3C3939"/>
                </a:solidFill>
                <a:latin typeface="Roboto" pitchFamily="34" charset="0"/>
                <a:ea typeface="Roboto" pitchFamily="34" charset="-122"/>
                <a:cs typeface="Roboto" pitchFamily="34" charset="-120"/>
              </a:rPr>
              <a:t>Developers implement UDP communication using datagram sockets, where data is sent and received as discrete packets without an established connection.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72703" y="462558"/>
            <a:ext cx="4205049" cy="525661"/>
          </a:xfrm>
          <a:prstGeom prst="rect">
            <a:avLst/>
          </a:prstGeom>
          <a:noFill/>
          <a:ln/>
        </p:spPr>
        <p:txBody>
          <a:bodyPr wrap="none" lIns="0" tIns="0" rIns="0" bIns="0" rtlCol="0" anchor="t"/>
          <a:lstStyle/>
          <a:p>
            <a:pPr marL="0" indent="0" algn="l">
              <a:lnSpc>
                <a:spcPts val="4100"/>
              </a:lnSpc>
              <a:buNone/>
            </a:pPr>
            <a:r>
              <a:rPr lang="en-US" sz="3300" dirty="0">
                <a:solidFill>
                  <a:srgbClr val="1B1B27"/>
                </a:solidFill>
                <a:latin typeface="Raleway" pitchFamily="34" charset="0"/>
                <a:ea typeface="Raleway" pitchFamily="34" charset="-122"/>
                <a:cs typeface="Raleway" pitchFamily="34" charset="-120"/>
              </a:rPr>
              <a:t>Conclusion</a:t>
            </a:r>
            <a:endParaRPr lang="en-US" sz="3300" dirty="0"/>
          </a:p>
        </p:txBody>
      </p:sp>
      <p:sp>
        <p:nvSpPr>
          <p:cNvPr id="3" name="Text 1"/>
          <p:cNvSpPr/>
          <p:nvPr/>
        </p:nvSpPr>
        <p:spPr>
          <a:xfrm>
            <a:off x="672703" y="1324570"/>
            <a:ext cx="13284994" cy="538163"/>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In summary, the User Datagram Protocol (UDP) offers a distinct and valuable approach to data transmission within computer networks. Its design prioritizes speed and efficiency, making it an indispensable choice for applications where the timely delivery of data outweighs the absolute guarantee of its arrival.</a:t>
            </a:r>
            <a:endParaRPr lang="en-US" sz="1300" dirty="0"/>
          </a:p>
        </p:txBody>
      </p:sp>
      <p:sp>
        <p:nvSpPr>
          <p:cNvPr id="4" name="Shape 2"/>
          <p:cNvSpPr/>
          <p:nvPr/>
        </p:nvSpPr>
        <p:spPr>
          <a:xfrm>
            <a:off x="672703" y="2051923"/>
            <a:ext cx="672703" cy="1009174"/>
          </a:xfrm>
          <a:prstGeom prst="roundRect">
            <a:avLst>
              <a:gd name="adj" fmla="val 360062"/>
            </a:avLst>
          </a:prstGeom>
          <a:solidFill>
            <a:srgbClr val="E1E1EA"/>
          </a:solidFill>
          <a:ln w="7620">
            <a:solidFill>
              <a:srgbClr val="C7C7D0"/>
            </a:solidFill>
            <a:prstDash val="solid"/>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2848" y="2430304"/>
            <a:ext cx="252293" cy="252293"/>
          </a:xfrm>
          <a:prstGeom prst="rect">
            <a:avLst/>
          </a:prstGeom>
        </p:spPr>
      </p:pic>
      <p:sp>
        <p:nvSpPr>
          <p:cNvPr id="6" name="Text 3"/>
          <p:cNvSpPr/>
          <p:nvPr/>
        </p:nvSpPr>
        <p:spPr>
          <a:xfrm>
            <a:off x="1513523" y="2220039"/>
            <a:ext cx="2102525" cy="262771"/>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Simple &amp; Fast</a:t>
            </a:r>
            <a:endParaRPr lang="en-US" sz="1650" dirty="0"/>
          </a:p>
        </p:txBody>
      </p:sp>
      <p:sp>
        <p:nvSpPr>
          <p:cNvPr id="7" name="Text 4"/>
          <p:cNvSpPr/>
          <p:nvPr/>
        </p:nvSpPr>
        <p:spPr>
          <a:xfrm>
            <a:off x="1513523" y="2583656"/>
            <a:ext cx="12444174" cy="269081"/>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UDP is a minimalist transport protocol, delivering high speed due to its connectionless nature and minimal overhead.</a:t>
            </a:r>
            <a:endParaRPr lang="en-US" sz="1300" dirty="0"/>
          </a:p>
        </p:txBody>
      </p:sp>
      <p:sp>
        <p:nvSpPr>
          <p:cNvPr id="8" name="Shape 5"/>
          <p:cNvSpPr/>
          <p:nvPr/>
        </p:nvSpPr>
        <p:spPr>
          <a:xfrm>
            <a:off x="672703" y="3229213"/>
            <a:ext cx="672703" cy="1009174"/>
          </a:xfrm>
          <a:prstGeom prst="roundRect">
            <a:avLst>
              <a:gd name="adj" fmla="val 360062"/>
            </a:avLst>
          </a:prstGeom>
          <a:solidFill>
            <a:srgbClr val="E1E1EA"/>
          </a:solidFill>
          <a:ln w="7620">
            <a:solidFill>
              <a:srgbClr val="C7C7D0"/>
            </a:solidFill>
            <a:prstDash val="solid"/>
          </a:ln>
        </p:spPr>
        <p:txBody>
          <a:bodyPr/>
          <a:lstStyle/>
          <a:p>
            <a:endParaRPr lang="en-US"/>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2848" y="3607594"/>
            <a:ext cx="252293" cy="252293"/>
          </a:xfrm>
          <a:prstGeom prst="rect">
            <a:avLst/>
          </a:prstGeom>
        </p:spPr>
      </p:pic>
      <p:sp>
        <p:nvSpPr>
          <p:cNvPr id="10" name="Text 6"/>
          <p:cNvSpPr/>
          <p:nvPr/>
        </p:nvSpPr>
        <p:spPr>
          <a:xfrm>
            <a:off x="1513523" y="3397329"/>
            <a:ext cx="2515672" cy="262771"/>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Speed-Reliability Tradeoff</a:t>
            </a:r>
            <a:endParaRPr lang="en-US" sz="1650" dirty="0"/>
          </a:p>
        </p:txBody>
      </p:sp>
      <p:sp>
        <p:nvSpPr>
          <p:cNvPr id="11" name="Text 7"/>
          <p:cNvSpPr/>
          <p:nvPr/>
        </p:nvSpPr>
        <p:spPr>
          <a:xfrm>
            <a:off x="1513523" y="3760946"/>
            <a:ext cx="12444174" cy="269081"/>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Its core utility lies in scenarios where a slight data loss is acceptable for maintaining real-time performance and low latency.</a:t>
            </a:r>
            <a:endParaRPr lang="en-US" sz="1300" dirty="0"/>
          </a:p>
        </p:txBody>
      </p:sp>
      <p:sp>
        <p:nvSpPr>
          <p:cNvPr id="12" name="Shape 8"/>
          <p:cNvSpPr/>
          <p:nvPr/>
        </p:nvSpPr>
        <p:spPr>
          <a:xfrm>
            <a:off x="672703" y="4406503"/>
            <a:ext cx="672703" cy="1009174"/>
          </a:xfrm>
          <a:prstGeom prst="roundRect">
            <a:avLst>
              <a:gd name="adj" fmla="val 360062"/>
            </a:avLst>
          </a:prstGeom>
          <a:solidFill>
            <a:srgbClr val="E1E1EA"/>
          </a:solidFill>
          <a:ln w="7620">
            <a:solidFill>
              <a:srgbClr val="C7C7D0"/>
            </a:solidFill>
            <a:prstDash val="solid"/>
          </a:ln>
        </p:spPr>
        <p:txBody>
          <a:bodyPr/>
          <a:lstStyle/>
          <a:p>
            <a:endParaRPr lang="en-US"/>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2848" y="4784884"/>
            <a:ext cx="252293" cy="252293"/>
          </a:xfrm>
          <a:prstGeom prst="rect">
            <a:avLst/>
          </a:prstGeom>
        </p:spPr>
      </p:pic>
      <p:sp>
        <p:nvSpPr>
          <p:cNvPr id="14" name="Text 9"/>
          <p:cNvSpPr/>
          <p:nvPr/>
        </p:nvSpPr>
        <p:spPr>
          <a:xfrm>
            <a:off x="1513523" y="4574619"/>
            <a:ext cx="2361724" cy="262771"/>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Designing Efficient Apps</a:t>
            </a:r>
            <a:endParaRPr lang="en-US" sz="1650" dirty="0"/>
          </a:p>
        </p:txBody>
      </p:sp>
      <p:sp>
        <p:nvSpPr>
          <p:cNvPr id="15" name="Text 10"/>
          <p:cNvSpPr/>
          <p:nvPr/>
        </p:nvSpPr>
        <p:spPr>
          <a:xfrm>
            <a:off x="1513523" y="4938236"/>
            <a:ext cx="12444174" cy="269081"/>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A deep understanding of UDP is critical for architects building network applications that require specific performance characteristics.</a:t>
            </a:r>
            <a:endParaRPr lang="en-US" sz="1300" dirty="0"/>
          </a:p>
        </p:txBody>
      </p:sp>
      <p:sp>
        <p:nvSpPr>
          <p:cNvPr id="16" name="Shape 11"/>
          <p:cNvSpPr/>
          <p:nvPr/>
        </p:nvSpPr>
        <p:spPr>
          <a:xfrm>
            <a:off x="672703" y="5583793"/>
            <a:ext cx="672703" cy="1009174"/>
          </a:xfrm>
          <a:prstGeom prst="roundRect">
            <a:avLst>
              <a:gd name="adj" fmla="val 360062"/>
            </a:avLst>
          </a:prstGeom>
          <a:solidFill>
            <a:srgbClr val="E1E1EA"/>
          </a:solidFill>
          <a:ln w="7620">
            <a:solidFill>
              <a:srgbClr val="C7C7D0"/>
            </a:solidFill>
            <a:prstDash val="solid"/>
          </a:ln>
        </p:spPr>
        <p:txBody>
          <a:bodyPr/>
          <a:lstStyle/>
          <a:p>
            <a:endParaRPr lang="en-US"/>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2848" y="5962174"/>
            <a:ext cx="252293" cy="252293"/>
          </a:xfrm>
          <a:prstGeom prst="rect">
            <a:avLst/>
          </a:prstGeom>
        </p:spPr>
      </p:pic>
      <p:sp>
        <p:nvSpPr>
          <p:cNvPr id="18" name="Text 12"/>
          <p:cNvSpPr/>
          <p:nvPr/>
        </p:nvSpPr>
        <p:spPr>
          <a:xfrm>
            <a:off x="1513523" y="5751909"/>
            <a:ext cx="2102525" cy="262771"/>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Handling Data Loss</a:t>
            </a:r>
            <a:endParaRPr lang="en-US" sz="1650" dirty="0"/>
          </a:p>
        </p:txBody>
      </p:sp>
      <p:sp>
        <p:nvSpPr>
          <p:cNvPr id="19" name="Text 13"/>
          <p:cNvSpPr/>
          <p:nvPr/>
        </p:nvSpPr>
        <p:spPr>
          <a:xfrm>
            <a:off x="1513523" y="6115526"/>
            <a:ext cx="12444174" cy="269081"/>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Developers must account for potential data loss and out-of-order delivery at the application layer when implementing UDP.</a:t>
            </a:r>
            <a:endParaRPr lang="en-US" sz="1300" dirty="0"/>
          </a:p>
        </p:txBody>
      </p:sp>
      <p:sp>
        <p:nvSpPr>
          <p:cNvPr id="20" name="Shape 14"/>
          <p:cNvSpPr/>
          <p:nvPr/>
        </p:nvSpPr>
        <p:spPr>
          <a:xfrm>
            <a:off x="672703" y="6761083"/>
            <a:ext cx="672703" cy="1009174"/>
          </a:xfrm>
          <a:prstGeom prst="roundRect">
            <a:avLst>
              <a:gd name="adj" fmla="val 360062"/>
            </a:avLst>
          </a:prstGeom>
          <a:solidFill>
            <a:srgbClr val="E1E1EA"/>
          </a:solidFill>
          <a:ln w="7620">
            <a:solidFill>
              <a:srgbClr val="C7C7D0"/>
            </a:solidFill>
            <a:prstDash val="solid"/>
          </a:ln>
        </p:spPr>
        <p:txBody>
          <a:bodyPr/>
          <a:lstStyle/>
          <a:p>
            <a:endParaRPr lang="en-US"/>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2848" y="7139464"/>
            <a:ext cx="252293" cy="252293"/>
          </a:xfrm>
          <a:prstGeom prst="rect">
            <a:avLst/>
          </a:prstGeom>
        </p:spPr>
      </p:pic>
      <p:sp>
        <p:nvSpPr>
          <p:cNvPr id="22" name="Text 15"/>
          <p:cNvSpPr/>
          <p:nvPr/>
        </p:nvSpPr>
        <p:spPr>
          <a:xfrm>
            <a:off x="1513523" y="6929199"/>
            <a:ext cx="2967752" cy="262771"/>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Essential for Modern Networks</a:t>
            </a:r>
            <a:endParaRPr lang="en-US" sz="1650" dirty="0"/>
          </a:p>
        </p:txBody>
      </p:sp>
      <p:sp>
        <p:nvSpPr>
          <p:cNvPr id="23" name="Text 16"/>
          <p:cNvSpPr/>
          <p:nvPr/>
        </p:nvSpPr>
        <p:spPr>
          <a:xfrm>
            <a:off x="1513523" y="7292816"/>
            <a:ext cx="12444174" cy="269081"/>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UDP remains a vital component of network infrastructure, fulfilling specific communication needs that TCP cannot efficiently address.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1362</Words>
  <Application>Microsoft Office PowerPoint</Application>
  <PresentationFormat>Custom</PresentationFormat>
  <Paragraphs>108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Roboto</vt:lpstr>
      <vt:lpstr>Arial</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Hp</cp:lastModifiedBy>
  <cp:revision>3</cp:revision>
  <dcterms:created xsi:type="dcterms:W3CDTF">2025-12-13T10:29:15Z</dcterms:created>
  <dcterms:modified xsi:type="dcterms:W3CDTF">2025-12-13T10:34:32Z</dcterms:modified>
</cp:coreProperties>
</file>